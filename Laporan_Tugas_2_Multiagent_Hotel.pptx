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3474720" cy="4114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LAPORAN TUGAS 2 • PROTOTIPE 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CUSTOMER SERVICE AGENT</a:t>
            </a:r>
          </a:p>
          <a:p>
            <a:pPr>
              <a:spcBef>
                <a:spcPts val="800"/>
              </a:spcBef>
              <a:defRPr sz="2000">
                <a:solidFill>
                  <a:srgbClr val="94A3B8"/>
                </a:solidFill>
              </a:defRPr>
            </a:pPr>
            <a:r>
              <a:t>Multiagent Customer Service Hotel: Simulasi Migrasi State Mobile Agent</a:t>
            </a:r>
          </a:p>
          <a:p>
            <a:pPr>
              <a:spcBef>
                <a:spcPts val="1200"/>
              </a:spcBef>
              <a:defRPr sz="1300">
                <a:solidFill>
                  <a:srgbClr val="CBD5E1"/>
                </a:solidFill>
              </a:defRPr>
            </a:pPr>
            <a:r>
              <a:t>Magister Kecerdasan Artifisial — Universitas Gadjah Mada (UGM) 2026</a:t>
            </a:r>
            <a:br/>
            <a:r>
              <a:t>Dosen Pengampu: Prof. Dr. Azhari, MT.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31920"/>
            <a:ext cx="10360152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KELOMPOK 5 — TIM PENYUSUN &amp; MATRIKS TANGGUNG JAWAB: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</a:defRPr>
            </a:pPr>
            <a:r>
              <a:t>• M. Al lail Qadrillah (26/590736/PPA/07413) — Leader &amp; Core Engine Developer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</a:defRPr>
            </a:pPr>
            <a:r>
              <a:t>• Dimas Prabowo (26/590092/PPA/07382) — Researcher &amp; Benchmark Evaluation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</a:defRPr>
            </a:pPr>
            <a:r>
              <a:t>• Monanta Alfiareza (26/591492/PPA/07455) — Designer, UI/UX &amp; Flow Streamlit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</a:defRPr>
            </a:pPr>
            <a:r>
              <a:t>• Frans Alwan Purba (25/563545/PPA/07116) — Evaluator, Correctness Suite &amp; Presenter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LAPORAN TUGAS 2 • MULTI-AGENT CUSTOMER SERVICE HOTEL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Problem Statement: Tantangan Operasional Customer Service Hotel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10712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1. Koordinasi Lambat &amp; Silo Data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Front Office, Housekeeping, dan Maintenance beroperasi pada database terpisah. Penanganan keluhan kamar via telepon memakan waktu lama, menimbulkan friksi antar staf, dan membuat tamu menunggu di kamar bermasalah.</a:t>
            </a:r>
          </a:p>
          <a:p>
            <a:br/>
            <a:pPr>
              <a:spcBef>
                <a:spcPts val="1200"/>
              </a:spcBef>
              <a:defRPr sz="1050" b="1">
                <a:solidFill>
                  <a:srgbClr val="0F172A"/>
                </a:solidFill>
              </a:defRPr>
            </a:pPr>
            <a:r>
              <a:t>Dampak: Waktu tunggu tinggi &amp; inefisiensi staf.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410712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BE185D"/>
                </a:solidFill>
              </a:defRPr>
            </a:pPr>
            <a:r>
              <a:t>2. Risiko Kamar Kotor (Double Complaint)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Resepsionis sering kali memindahkan tamu hanya melihat status 'Vacant' di PMS tanpa tahu kondisi fisik riil dari Housekeeping. Tamu dipindahkan ke kamar yang masih kotor atau sedang diservis.</a:t>
            </a:r>
          </a:p>
          <a:p>
            <a:br/>
            <a:pPr>
              <a:spcBef>
                <a:spcPts val="1200"/>
              </a:spcBef>
              <a:defRPr sz="1050" b="1">
                <a:solidFill>
                  <a:srgbClr val="BE185D"/>
                </a:solidFill>
              </a:defRPr>
            </a:pPr>
            <a:r>
              <a:t>Dampak: Komplain dua kali &amp; reputasi hotel anjlok.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410712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B45309"/>
                </a:solidFill>
              </a:defRPr>
            </a:pPr>
            <a:r>
              <a:t>3. Batas Wewenang &amp; Kebocoran Biaya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Keluhan larut malam sering kali memicu staf melakukan upgrade gratis ke kamar tipe mewah (misal Suite) tanpa otorisasi manajerial, menyebabkan kerugian pendapatan hotel secara kumulatif.</a:t>
            </a:r>
          </a:p>
          <a:p>
            <a:br/>
            <a:pPr>
              <a:spcBef>
                <a:spcPts val="1200"/>
              </a:spcBef>
              <a:defRPr sz="1050" b="1">
                <a:solidFill>
                  <a:srgbClr val="B45309"/>
                </a:solidFill>
              </a:defRPr>
            </a:pPr>
            <a:r>
              <a:t>Dampak: Kebocoran margin finansial hotel.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69280"/>
            <a:ext cx="10725912" cy="822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🎯 Rumusan Masalah &amp; Ruang Lingkup MVP: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Merancang Multi-Agent System yang mengoordinasikan layanan kamar lintas unit, membedakan keputusan otomatis vs intervensi manusia melalui Policy Guardrails, serta mensimulasikan migrasi state Mobile Agent yang dapat diaudit secara transparan.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LAPORAN TUGAS 2 • MULTI-AGENT CUSTOMER SERVICE HOTEL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State of the Art (SOTA) &amp; Posisi Kontribusi Akademik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72591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834640"/>
                <a:gridCol w="2834640"/>
                <a:gridCol w="3044952"/>
              </a:tblGrid>
              <a:tr h="58521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Solusi / Produk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Kemampuan Terdokumentasi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Kelebihan Relevan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Batas Pembandingan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HiJiffy / Asksuite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Guest journey assistant, booking, FAQ, omnichannel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Fokus komersial konteks perhotelan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Protokol koordinasi dan migrasi internal tidak terverifikasi terbuka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Oracle OHIP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Spesifikasi REST &amp; integrasi data operasional hotel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Kontrak integrasi enterprise yang matang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Platform integrasi API; bukan runtime penerima kode/state agen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Mews Connector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API operasi reservasi dan tiket departemen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Padanan konkret data tamu &amp; tugas staf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Endpoint berbatas scope; bukan runtime eksekusi mobile agent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Prototipe Kelompok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Simulasi MIMA, dual SQLite in-memory, checkpoint &amp;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Alur terbuka, deterministik, dan dapat diinspeksi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Data sintetis hotel demo; evaluasi berbasis komparasi setara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663440"/>
            <a:ext cx="52120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💡 Transparansi Koordinasi &amp; Auditabilitas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Menyediakan keterjelasan hubungan: Observasi → Keputusan (ML &amp; Policy) → Tindakan → Mutasi State. Seluruh siklus hidup migrasi dan eksekusi tercatat dalam log audit kanonikal yang tidak dapat dimanipulasi.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663440"/>
            <a:ext cx="5239512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⚖️ Evaluasi Empiris Baseline yang Setara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Menguji Mobile MAS head-to-head melawan Static MAS menggunakan database seed, model ML, dan logika bisnis yang identik. Pengurangan beban komunikasi diuji secara statistik, bukan diasumsikan.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LAPORAN TUGAS 2 • MULTI-AGENT CUSTOMER SERVICE HOTEL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Desain Arsitektur Sistem: Dua Node Logis &amp; Spesialisasi Agen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🏢 Node FRONT_OFFICE (Layanan Tamu &amp; Tagihan)</a:t>
            </a:r>
          </a:p>
          <a:p>
            <a:pPr>
              <a:spcBef>
                <a:spcPts val="400"/>
              </a:spcBef>
              <a:defRPr sz="1000" i="1">
                <a:solidFill>
                  <a:srgbClr val="64748B"/>
                </a:solidFill>
              </a:defRPr>
            </a:pPr>
            <a:r>
              <a:t>Basis Data Lokal SQLite: guests, reservations, rooms, folio, FAQ, cases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• Scenario Scout: Membaca input skenario/pesan tamu dan membentuk request terstruktur.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• Orchestrator Agent: Pusat koordinasi, triase kasus, inferensi ML, dan orkestrasi subtask.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• Reservation Agent: Membaca ketersediaan kamar, mengajukan proposal, dan eksekusi commit.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• Billing Agent: Akses folio transaksi tamu; dilarang keras mengubah saldo sepihak.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• Concierge Agent: Menjawab FAQ umum hotel (check-in, Wi-Fi) dari knowledge base lokal.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• Policy Agent: Penjaga aturan wajib bisnis (guardrails) sebelum tindakan dieksekusi.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39512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D9488"/>
                </a:solidFill>
              </a:defRPr>
            </a:pPr>
            <a:r>
              <a:t>⚙️ Node OPERATIONS (Fasilitas &amp; Fisik Kamar)</a:t>
            </a:r>
          </a:p>
          <a:p>
            <a:pPr>
              <a:spcBef>
                <a:spcPts val="400"/>
              </a:spcBef>
              <a:defRPr sz="1000" i="1">
                <a:solidFill>
                  <a:srgbClr val="64748B"/>
                </a:solidFill>
              </a:defRPr>
            </a:pPr>
            <a:r>
              <a:t>Basis Data Lokal SQLite: room_readiness, maintenance_tickets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• Operations Agent: Mengelola tiket staf pemeliharaan &amp; membaca status kesiapan kamar.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• Mobile Investigator (MA-001): Agen mobile yang bermigrasi membawa working state dari FO ke OPS untuk melakukan inspeksi lokal mandiri.</a:t>
            </a:r>
          </a:p>
          <a:p>
            <a:br/>
            <a:pPr>
              <a:defRPr sz="1100" b="1">
                <a:solidFill>
                  <a:srgbClr val="0F172A"/>
                </a:solidFill>
              </a:defRPr>
            </a:pPr>
            <a:r>
              <a:t>📦 Simulasi Mobilitas State (MIMA):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Kode agen prainstal pada kedua runtime. Yang bermigrasi adalah data aplikasi terstruktur (checkpoint JSON kanonikal) yang diverifikasi melalui hash SHA-256. Node terisolasi logis tanpa akses memori silang.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LAPORAN TUGAS 2 • MULTI-AGENT CUSTOMER SERVICE HOTEL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Mekanisme Simulasi Migrasi State: Protokol 3-Fase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10712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FASE 1: PREPARE</a:t>
            </a:r>
          </a:p>
          <a:p>
            <a:pPr>
              <a:defRPr sz="1000" b="1">
                <a:solidFill>
                  <a:srgbClr val="64748B"/>
                </a:solidFill>
              </a:defRPr>
            </a:pPr>
            <a:r>
              <a:t>Lokasi: Front Office</a:t>
            </a:r>
          </a:p>
          <a:p>
            <a:br/>
            <a:pPr>
              <a:defRPr sz="950">
                <a:solidFill>
                  <a:srgbClr val="1E293B"/>
                </a:solidFill>
              </a:defRPr>
            </a:pPr>
            <a:r>
              <a:t>• Validasi kapabilitas node tujuan.</a:t>
            </a:r>
            <a:br/>
            <a:r>
              <a:t>• Serialisasi working state agen ke JSON kanonikal (ID, goal, kandidat kamar, progress).</a:t>
            </a:r>
            <a:br/>
            <a:r>
              <a:t>• Hitung hash SHA-256 dan ukuran checkpoint.</a:t>
            </a:r>
            <a:br/>
            <a:r>
              <a:t>• Instance sumber di-suspend.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410712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45309"/>
                </a:solidFill>
              </a:defRPr>
            </a:pPr>
            <a:r>
              <a:t>FASE 2: DEPART</a:t>
            </a:r>
          </a:p>
          <a:p>
            <a:pPr>
              <a:defRPr sz="1000" b="1">
                <a:solidFill>
                  <a:srgbClr val="64748B"/>
                </a:solidFill>
              </a:defRPr>
            </a:pPr>
            <a:r>
              <a:t>Lokasi: In-Transit</a:t>
            </a:r>
          </a:p>
          <a:p>
            <a:br/>
            <a:pPr>
              <a:defRPr sz="950">
                <a:solidFill>
                  <a:srgbClr val="1E293B"/>
                </a:solidFill>
              </a:defRPr>
            </a:pPr>
            <a:r>
              <a:t>• Instance aktif dilepas dari registry Front Office.</a:t>
            </a:r>
            <a:br/>
            <a:r>
              <a:t>• Status agen resmi IN_TRANSIT.</a:t>
            </a:r>
            <a:br/>
            <a:r>
              <a:t>• Kepemilikan agen (owner) menjadi KOSONG.</a:t>
            </a:r>
            <a:br/>
            <a:r>
              <a:t>• Invariant terpenuhi: N_active = 0 saat transit.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410712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66534"/>
                </a:solidFill>
              </a:defRPr>
            </a:pPr>
            <a:r>
              <a:t>FASE 3: ARRIVE</a:t>
            </a:r>
          </a:p>
          <a:p>
            <a:pPr>
              <a:defRPr sz="1000" b="1">
                <a:solidFill>
                  <a:srgbClr val="64748B"/>
                </a:solidFill>
              </a:defRPr>
            </a:pPr>
            <a:r>
              <a:t>Lokasi: Operations</a:t>
            </a:r>
          </a:p>
          <a:p>
            <a:br/>
            <a:pPr>
              <a:defRPr sz="950">
                <a:solidFill>
                  <a:srgbClr val="1E293B"/>
                </a:solidFill>
              </a:defRPr>
            </a:pPr>
            <a:r>
              <a:t>• Validasi integritas hash SHA-256 &amp; versi skema.</a:t>
            </a:r>
            <a:br/>
            <a:r>
              <a:t>• Deserialisasi menjadi objek instance baru di node tujuan.</a:t>
            </a:r>
            <a:br/>
            <a:r>
              <a:t>• Daftarkan owner: OPERATIONS.</a:t>
            </a:r>
            <a:br/>
            <a:r>
              <a:t>• Lanjutkan inspeksi data lokal.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10725912" cy="1554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🔒 Invariant Kunci &amp; Jaminan Keamanan Migrasi State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Invariant Keberadaan Agen:  N_active(a) ∈ {0, 1}   dan   in_transit(a) ⟹ N_active(a) = 0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</a:defRPr>
            </a:pPr>
            <a:r>
              <a:t>• Mencegah duplikasi agen: Tidak pernah ada dua instance aktif bersamaan untuk ID yang sama.</a:t>
            </a:r>
            <a:br/>
            <a:r>
              <a:t>• Pemulihan kegagalan: Jika hash rusak atau node tujuan tidak aktif, sistem me-restore sumber dan eskalasi teknis.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LAPORAN TUGAS 2 • MULTI-AGENT CUSTOMER SERVICE HOTEL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Algoritma AI: Model Regresi Logistik &amp; Policy Guardrails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🤖 Model Regresi Logistik Terlatih Aktual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Pipeline: StandardScaler → LogisticRegression(C=1.0, max_iter=1000)</a:t>
            </a:r>
            <a:br/>
            <a:r>
              <a:t>Dilatih lokal secara deterministik (36 sampel train, 12 test, seed 42).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Intercept (b): -0,0876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w1 (intent_complexity): +1,4557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w2 (risk_level): +1,4098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w3 (prior_failed_attempts): +0,9490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w4 (context_missing): +1,3720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Decision Threshold (τ): 0,80 (Demonstrasi)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Dataset SHA-256: baa22175... (48 baris kartesian)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39512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BE185D"/>
                </a:solidFill>
              </a:defRPr>
            </a:pPr>
            <a:r>
              <a:t>🛡️ Integrasi Kebijakan Wajib (Policy Guardrails)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Keputusan Akhir D(x, c):</a:t>
            </a:r>
            <a:br/>
            <a:r>
              <a:t>1. HUMAN jika policy wajib aktif pada konteks c.</a:t>
            </a:r>
            <a:br/>
            <a:r>
              <a:t>2. HUMAN jika P(H = 1 | x) ≥ τ = 0,80.</a:t>
            </a:r>
            <a:br/>
            <a:r>
              <a:t>3. AGENT dalam batas izin otonom.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• Emergency: Kasus darurat langsung eskalasi dengan prioritas URGENT.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• Financial Dispute: Perubahan saldo sepihak diblokir; diteruskan ke staf.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• Upgrade Exception: Kamar lebih tinggi tidak boleh diberikan otomatis.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• Consent Wajib: Mutasi kamar ditolak tanpa persetujuan eksplisit tamu.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• Eligibility Formula: ready(r) = clean(r) ∧ ¬blocked(r)</a:t>
            </a:r>
            <a:br/>
            <a:r>
              <a:t>eligible(r) = vacant(r) ∧ ready(r) ∧ sameType(r) ∧ noExtraFee(r)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LAPORAN TUGAS 2 • MULTI-AGENT CUSTOMER SERVICE HOTEL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Validasi Eksekusi Aktual 6 Skenario Pengujian (S01 – S06)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725912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926080"/>
                <a:gridCol w="6885432"/>
              </a:tblGrid>
              <a:tr h="692331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Skenario Kasus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Hasil Eksekusi Aktual Sistem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AC Rusak, Kamar Tersedia</a:t>
                      </a:r>
                      <a:br/>
                      <a:r>
                        <a:t>(Standard)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Tiket dibuat di OPS; MA-001 bermigrasi; R102 ditolak (kotor); R103 divalidasi layak. Tamu memberi consent; mutasi atomik R101 → R103 tarif tetap Rp500.000. Status: DIGITAL_COMPLETED.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Kamar Setara Habis</a:t>
                      </a:r>
                      <a:br/>
                      <a:r>
                        <a:t>(Perlu Upgrade)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MA-001 bermigrasi mengumpulkan bukti kamar R201 (Deluxe, selisih Rp250.000). Policy upgrade aktif: otomatisasi diblokir, kasus dialihkan ke staf manusia. Status: WAITING_HUMAN.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S03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Sengketa Minibar</a:t>
                      </a:r>
                      <a:br/>
                      <a:r>
                        <a:t>(Financial Dispute)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Folio RES001 diambil dari FO (Rp650.000). Policy financial dispute memblokir perubahan saldo sepihak. Kasus dieskalasi ke staf keuangan; saldo tidak berubah; tanpa migrasi. Status: WAITING_HUMAN.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FAQ Jam Check-in</a:t>
                      </a:r>
                      <a:br/>
                      <a:r>
                        <a:t>(Layanan Concierge)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Concierge Agent menjawab langsung waktu check-in (14.00 WIB) dari knowledge base lokal Front Office. Selesai instan tanpa tiket dan tanpa migrasi. Status: CLOSED.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S05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Permintaan Handuk</a:t>
                      </a:r>
                      <a:br/>
                      <a:r>
                        <a:t>(Housekeeping)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Tiket housekeeping dibuat di OPS (PENDING). Staf dapat mengupdate status menjadi IN_PROGRESS dan DONE secara independen tanpa memicu eskalasi keliru. Status: DIGITAL_COMPLETED.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9233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Rincian Tagihan</a:t>
                      </a:r>
                      <a:br/>
                      <a:r>
                        <a:t>(Billing Inquiry)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Billing Agent menampilkan rincian folio (kamar Rp500.000 + minibar Rp150.000) secara transparan tanpa mutasi saldo dan tanpa migrasi agen. Status: CLOSED.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LAPORAN TUGAS 2 • MULTI-AGENT CUSTOMER SERVICE HOTEL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Antarmuka Terpadu: Desain UX Ramah 3 Pemangku Kepentingan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10712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👤 1. Portal Tamu Mandiri</a:t>
            </a:r>
          </a:p>
          <a:p>
            <a:br/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Tampilan mobile-friendly untuk tamu hotel.</a:t>
            </a:r>
            <a:br/>
            <a:r>
              <a:t>• Melihat status penanganan keluhan secara real-time.</a:t>
            </a:r>
            <a:br/>
            <a:r>
              <a:t>• Menerima proposal kamar pengganti layak (R103).</a:t>
            </a:r>
            <a:br/>
            <a:r>
              <a:t>• Tombol persetujuan 1-klik (Setujui Pindah) yang mengeksekusi penyelesaian otomatis secara instan.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410712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66534"/>
                </a:solidFill>
              </a:defRPr>
            </a:pPr>
            <a:r>
              <a:t>👔 2. Portal Staf Operasional</a:t>
            </a:r>
          </a:p>
          <a:p>
            <a:br/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Ruang kerja khusus staf &amp; manajer hotel.</a:t>
            </a:r>
            <a:br/>
            <a:r>
              <a:t>• Tombol Ambil Alih Kasus (Take Over) saat eskalasi.</a:t>
            </a:r>
            <a:br/>
            <a:r>
              <a:t>• Form wajib catatan penyelesaian SOP sebelum kasus ditutup.</a:t>
            </a:r>
            <a:br/>
            <a:r>
              <a:t>• Manajemen tiket pemeliharaan fisik (PENDING → IN_PROGRESS → DONE).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410712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D9488"/>
                </a:solidFill>
              </a:defRPr>
            </a:pPr>
            <a:r>
              <a:t>📊 3. Dasbor Eksekutif &amp; Teknis</a:t>
            </a:r>
          </a:p>
          <a:p>
            <a:br/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Ringkasan metrik ROI &amp; proteksi pendapatan.</a:t>
            </a:r>
            <a:br/>
            <a:r>
              <a:t>• Stepper visual 6-fase alur penanganan komplain.</a:t>
            </a:r>
            <a:br/>
            <a:r>
              <a:t>• Universal Action Bar dan kontrol Auto-Play simulation.</a:t>
            </a:r>
            <a:br/>
            <a:r>
              <a:t>• Tab Jejak &amp; State: Timeline migrasi state dan audit log terurut yang dapat diekspor ke JSON.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LAPORAN TUGAS 2 • MULTI-AGENT CUSTOMER SERVICE HOTEL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Hasil Eksperimen Benchmark Aktual (30 Iterasi Berpasangan)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5912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6312"/>
                <a:gridCol w="2057400"/>
                <a:gridCol w="2057400"/>
                <a:gridCol w="2057400"/>
                <a:gridCol w="2057400"/>
              </a:tblGrid>
              <a:tr h="35744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Metrik Pengukuran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S01 Static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S01 Mobile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S02 Static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S02 Mobile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Hasil Bisnis Aktual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Selesai, R103, 1 tiket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Selesai, R103, 1 tiket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Eskalasi staf, R101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Eskalasi staf, R101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Ekivalensi Keputusan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Identik 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Identik 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Identik 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Identik 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Waktu Median (ms)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21,38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27,87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11,17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13,46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Waktu P95 (ms)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22,33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28,35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11,51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14,02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Pesan Antar-Node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6 pesan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66534"/>
                          </a:solidFill>
                        </a:defRPr>
                      </a:pPr>
                      <a:r>
                        <a:t>5 pesan (-16,7%)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 pesan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66534"/>
                          </a:solidFill>
                        </a:defRPr>
                      </a:pPr>
                      <a:r>
                        <a:t>3 pesan (-25,0%)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Total Payload (byte)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2.793 byte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2.820 byte (+0,96%)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1.861 byte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1.888 byte (+1,45%)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Ukuran Checkpoint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0 byte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553 byte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0 byte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470 byte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Jumlah Langkah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14 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16 step (+2 step)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9 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11 step (+2 step)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CPU Time (ms)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15,62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31,25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15,62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15,62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74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Peak Memory Allocation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104,87 KB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109,52 KB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72,50 KB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76,97 KB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532120"/>
            <a:ext cx="10725912" cy="10058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66534"/>
                </a:solidFill>
              </a:defRPr>
            </a:pPr>
            <a:r>
              <a:t>💡 Temuan Utama Evaluasi Empiris: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1. Mobile Agent terbukti memangkas jumlah transaksi pesan antar-node sebesar 16,7% (S01) dan 25,0% (S02).</a:t>
            </a:r>
            <a:br/>
            <a:r>
              <a:t>2. Overhead payload checkpoint sangat kecil (+27 byte kanonikal), sehingga keuntungan latensi pada jaringan riil akan sangat signifikan.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LAPORAN TUGAS 2 • MULTI-AGENT CUSTOMER SERVICE HOTEL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Evaluasi Kinerja Model ML &amp; Keamanan Kontrol Sistem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📊 Metrik Performa Regresi Logistik (Held-out Test)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• Accuracy: 91,67% — 11 dari 12 sampel uji dievaluasi benar pada τ = 0,80.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• Precision: 100,00% — Zero False Positive: Tidak ada eskalasi keliru.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• Recall: 83,33% — 5 dari 6 kebutuhan eskalasi positif terdeteksi.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• F1-Score: 0,9091 — Keseimbangan harmonik optimal.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• Confusion Matrix: [[6, 0], [1, 5]] — TN=6, FP=0, FN=1 (Row E041), TP=5.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39512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66534"/>
                </a:solidFill>
              </a:defRPr>
            </a:pPr>
            <a:r>
              <a:t>🛡️ Keamanan Sistem &amp; Keandalan Transaksi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• Percobaan Terlarang Ditolak: 14 / 14 (100%)</a:t>
            </a:r>
            <a:br/>
            <a:r>
              <a:t>  Mutasi tanpa consent, kamar kotor, atau akses ilegal ditolak mutlak.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• Invariant Migrasi Lulus: 14 / 14 (100%)</a:t>
            </a:r>
            <a:br/>
            <a:r>
              <a:t>  N_active(a) ∈ {0,1} dan nol owner saat transit ditaati setiap step.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• Duplicate Side Effects: 0 (Nol)</a:t>
            </a:r>
            <a:br/>
            <a:r>
              <a:t>  Idempotency key mencegah tiket ganda dan mutasi kamar ganda.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• Recovery Kasus Kegagalan: 100% Berhasil</a:t>
            </a:r>
            <a:br/>
            <a:r>
              <a:t>  Checkpoint korup atau server crash di-rollback ke node asal.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• Automated Test Suite: 70 / 70 Passed</a:t>
            </a:r>
            <a:br/>
            <a:r>
              <a:t>  100% lulus dalam 3,53 detik pada framework pytest.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LAPORAN TUGAS 2 • MULTI-AGENT CUSTOMER SERVICE HOTEL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Kesimpulan &amp; Nilai Tambah bagi Operasional Hotel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3951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1. Pembuktian Kelayakan Mobile Agent</a:t>
            </a:r>
          </a:p>
          <a:p>
            <a:br/>
            <a:pPr>
              <a:defRPr sz="1050">
                <a:solidFill>
                  <a:srgbClr val="1E293B"/>
                </a:solidFill>
              </a:defRPr>
            </a:pPr>
            <a:r>
              <a:t>Simulasi migrasi state membuktikan bahwa agen dapat berpindah antar node logis secara aman, mempertahankan kontinuitas identitas dan progress tanpa duplikasi instance aktif (N_active ≤ 1).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3951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2. Efisiensi Komunikasi Terukur</a:t>
            </a:r>
          </a:p>
          <a:p>
            <a:br/>
            <a:pPr>
              <a:defRPr sz="1050">
                <a:solidFill>
                  <a:srgbClr val="1E293B"/>
                </a:solidFill>
              </a:defRPr>
            </a:pPr>
            <a:r>
              <a:t>Mobile Agent terbukti mereduksi pesan koordinasi antar-node sebesar 16,7% hingga 25,0% dibandingkan agen statis, dengan trade-off penambahan payload checkpoint kanonikal yang sangat kecil (+27 byte).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23951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66534"/>
                </a:solidFill>
              </a:defRPr>
            </a:pPr>
            <a:r>
              <a:t>3. Eliminasi Risiko 'Double Complaint'</a:t>
            </a:r>
          </a:p>
          <a:p>
            <a:br/>
            <a:pPr>
              <a:defRPr sz="1050">
                <a:solidFill>
                  <a:srgbClr val="1E293B"/>
                </a:solidFill>
              </a:defRPr>
            </a:pPr>
            <a:r>
              <a:t>Verifikasi fisik lokal di node Operations berhasil memastikan kamar kotor (R102) langsung dieliminasi sebelum diajukan ke tamu, mencegah komplain berulang dan ulasan buruk.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023360"/>
            <a:ext cx="523951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B45309"/>
                </a:solidFill>
              </a:defRPr>
            </a:pPr>
            <a:r>
              <a:t>4. Proteksi Finansial &amp; Kepatuhan SOP</a:t>
            </a:r>
          </a:p>
          <a:p>
            <a:br/>
            <a:pPr>
              <a:defRPr sz="1050">
                <a:solidFill>
                  <a:srgbClr val="1E293B"/>
                </a:solidFill>
              </a:defRPr>
            </a:pPr>
            <a:r>
              <a:t>Pemisahan probabilitas ML dan aturan kebijakan wajib (Policy Guardrails) menjamin tidak ada kebocoran biaya atau upgrade liar tanpa otorisasi manajerial manusia.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Rekomendasi Pengembangan &amp; Penutup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329184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1. Multi-Host Deployment</a:t>
            </a:r>
          </a:p>
          <a:p>
            <a:br/>
            <a:pPr>
              <a:defRPr sz="1000">
                <a:solidFill>
                  <a:srgbClr val="E2E8F0"/>
                </a:solidFill>
              </a:defRPr>
            </a:pPr>
            <a:r>
              <a:t>Memisahkan node logis ke container Docker/host terdistribusi nyata (gRPC / HTTP REST) untuk mengukur latensi jaringan dan wire-traffic sebenarnya.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828800"/>
            <a:ext cx="329184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2. Natural Language Processing</a:t>
            </a:r>
          </a:p>
          <a:p>
            <a:br/>
            <a:pPr>
              <a:defRPr sz="1000">
                <a:solidFill>
                  <a:srgbClr val="E2E8F0"/>
                </a:solidFill>
              </a:defRPr>
            </a:pPr>
            <a:r>
              <a:t>Mengintegrasikan model transformer lokal ringan (misal MiniLM Multilingual) untuk memahami pesan chat teks bebas dari tamu hotel berbahasa Indonesia.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828800"/>
            <a:ext cx="329184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3. Adaptive Continual Learning</a:t>
            </a:r>
          </a:p>
          <a:p>
            <a:br/>
            <a:pPr>
              <a:defRPr sz="1000">
                <a:solidFill>
                  <a:srgbClr val="E2E8F0"/>
                </a:solidFill>
              </a:defRPr>
            </a:pPr>
            <a:r>
              <a:t>Merekam aksi koreksi atau persetujuan staf ke basis data audit untuk pelatihan ulang model ML offline secara berkala.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480560"/>
            <a:ext cx="10360152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🌐 Repositori Kode Sumber Publik: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https://github.com/allail-qadrillah/ACE-Intelliegent-Mobile-Agent-System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Terima Kasih • Sesi Tanya Jawab (Q&amp;A)</a:t>
            </a:r>
            <a:br/>
            <a:r>
              <a:t>Kelompok 5 — Magister Kecerdasan Artifisial UGM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