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3716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ACE — Intelligent Mobile Agent System</a:t>
            </a:r>
          </a:p>
          <a:p>
            <a:pPr>
              <a:spcBef>
                <a:spcPts val="1200"/>
              </a:spcBef>
              <a:defRPr sz="1800">
                <a:solidFill>
                  <a:srgbClr val="CBD5E1"/>
                </a:solidFill>
              </a:defRPr>
            </a:pPr>
            <a:r>
              <a:t>Otomasi Penanganan Komplain &amp; Operasional Hotel Nusantara Berbasis Mobile Agent</a:t>
            </a:r>
          </a:p>
          <a:p>
            <a:pPr>
              <a:spcBef>
                <a:spcPts val="1600"/>
              </a:spcBef>
              <a:defRPr sz="1300" b="1">
                <a:solidFill>
                  <a:srgbClr val="FF6B35"/>
                </a:solidFill>
              </a:defRPr>
            </a:pPr>
            <a:r>
              <a:t>Mata Kuliah: Agent Enterprise  |  Program Studi Informatika / Sistem Informasi  |  Semester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572000"/>
            <a:ext cx="10332720" cy="1554480"/>
          </a:xfrm>
          <a:prstGeom prst="roundRect">
            <a:avLst/>
          </a:prstGeom>
          <a:solidFill>
            <a:srgbClr val="212E46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6634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👥 KELOMPOK 5 — TIM PENGEMBANG: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6B35"/>
                </a:solidFill>
              </a:rPr>
              <a:t>M. Al lail Qadrillah </a:t>
            </a:r>
            <a:r>
              <a:rPr sz="1000">
                <a:solidFill>
                  <a:srgbClr val="CBD5E1"/>
                </a:solidFill>
              </a:rPr>
              <a:t>(Arsitektur Sistem &amp; Lead Developer)   |   </a:t>
            </a:r>
            <a:r>
              <a:rPr b="1" sz="1100">
                <a:solidFill>
                  <a:srgbClr val="FF6B35"/>
                </a:solidFill>
              </a:rPr>
              <a:t>Dimas Prabowo </a:t>
            </a:r>
            <a:r>
              <a:rPr sz="1000">
                <a:solidFill>
                  <a:srgbClr val="CBD5E1"/>
                </a:solidFill>
              </a:rPr>
              <a:t>(Evaluasi Model ML &amp; Data Pipeline)   |   </a:t>
            </a:r>
            <a:r>
              <a:rPr b="1" sz="1100">
                <a:solidFill>
                  <a:srgbClr val="FF6B35"/>
                </a:solidFill>
              </a:rPr>
              <a:t>Monanta Alfiareza </a:t>
            </a:r>
            <a:r>
              <a:rPr sz="1000">
                <a:solidFill>
                  <a:srgbClr val="CBD5E1"/>
                </a:solidFill>
              </a:rPr>
              <a:t>(Protokol Migrasi State &amp; Keamanan)   |   </a:t>
            </a:r>
            <a:r>
              <a:rPr b="1" sz="1100">
                <a:solidFill>
                  <a:srgbClr val="FF6B35"/>
                </a:solidFill>
              </a:rPr>
              <a:t>Frans Alwan </a:t>
            </a:r>
            <a:r>
              <a:rPr sz="1000">
                <a:solidFill>
                  <a:srgbClr val="CBD5E1"/>
                </a:solidFill>
              </a:rPr>
              <a:t>(Antarmuka Pengguna &amp; Integrasi Bisnis)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ACE - INTELLIGENT MOBILE 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Tantangan Nyata Operasional Hotel Tradisional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235"/>
                </a:solidFill>
              </a:defRPr>
            </a:pPr>
            <a:r>
              <a:t>📞 Koordinasi Lambat &amp; Silo Data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Front Office dan Housekeeping bekerja terpisah. Koordinasi keluhan tamu via telepon manual memakan waktu rata-rata 35-45 menit.</a:t>
            </a:r>
          </a:p>
          <a:p>
            <a:pPr>
              <a:spcBef>
                <a:spcPts val="1600"/>
              </a:spcBef>
              <a:defRPr sz="1100" b="1">
                <a:solidFill>
                  <a:srgbClr val="FF6B35"/>
                </a:solidFill>
              </a:defRPr>
            </a:pPr>
            <a:r>
              <a:t>Dampak Kerugian: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Beban telepon meja depan tinggi &amp; tamu menunggu di kamar yang rusak.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235"/>
                </a:solidFill>
              </a:defRPr>
            </a:pPr>
            <a:r>
              <a:t>🧹 Risiko Kamar Kotor (Double Complaint)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Resepsionis memindahkan tamu ke kamar kosong di sistem tanpa verifikasi fisik kesiapan kamar. Tamu mendapati kamar baru belum dibersihkan!</a:t>
            </a:r>
          </a:p>
          <a:p>
            <a:pPr>
              <a:spcBef>
                <a:spcPts val="1600"/>
              </a:spcBef>
              <a:defRPr sz="1100" b="1">
                <a:solidFill>
                  <a:srgbClr val="FF6B35"/>
                </a:solidFill>
              </a:defRPr>
            </a:pPr>
            <a:r>
              <a:t>Dampak Kerugian: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Keluhan berulang dan ulasan bintang 1 di platform online.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235"/>
                </a:solidFill>
              </a:defRPr>
            </a:pPr>
            <a:r>
              <a:t>💸 Kebocoran Finansial (Upgrade Liar)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Staf panik saat komplain tengah malam sering memberikan upgrade gratis ke kamar mewah tanpa wewenang manajer hotel.</a:t>
            </a:r>
          </a:p>
          <a:p>
            <a:pPr>
              <a:spcBef>
                <a:spcPts val="1600"/>
              </a:spcBef>
              <a:defRPr sz="1100" b="1">
                <a:solidFill>
                  <a:srgbClr val="FF6B35"/>
                </a:solidFill>
              </a:defRPr>
            </a:pPr>
            <a:r>
              <a:t>Dampak Kerugian: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Margin profit hotel tergerus dan pelanggaran SOP berulang.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ACE - INTELLIGENT MOBILE 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Solusi ACE: Otomasi Cerdas Berbasis Mobile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35"/>
                </a:solidFill>
              </a:defRPr>
            </a:pPr>
            <a:r>
              <a:t>⚡ Resolusi Super Cepat (&lt; 1 Menit)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Menyelesaikan 80% keluhan kamar rutin secara mandiri dan otomatis tanpa membebani resepsionis telepon.</a:t>
            </a:r>
          </a:p>
          <a:p>
            <a:pPr>
              <a:spcBef>
                <a:spcPts val="1800"/>
              </a:spcBef>
              <a:defRPr sz="1100" b="1">
                <a:solidFill>
                  <a:srgbClr val="10B981"/>
                </a:solidFill>
              </a:defRPr>
            </a:pPr>
            <a:r>
              <a:t>Nilai Tambah Nyata: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Penghematan Waktu Staf Hingga 360 Jam / Bulan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35"/>
                </a:solidFill>
              </a:defRPr>
            </a:pPr>
            <a:r>
              <a:t>🔍 Zero Double-Complaint (Verifikasi Fisik)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Mobile Investigator bermigrasi langsung ke database Housekeeping untuk mengeliminasi kamar kotor (R102) dan hanya menawarkan kamar siap huni (R103).</a:t>
            </a:r>
          </a:p>
          <a:p>
            <a:pPr>
              <a:spcBef>
                <a:spcPts val="1800"/>
              </a:spcBef>
              <a:defRPr sz="1100" b="1">
                <a:solidFill>
                  <a:srgbClr val="10B981"/>
                </a:solidFill>
              </a:defRPr>
            </a:pPr>
            <a:r>
              <a:t>Nilai Tambah Nyata: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Tingkat Kepuasan Tamu (CSAT) Meningkat ke 4.9/5.0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35"/>
                </a:solidFill>
              </a:defRPr>
            </a:pPr>
            <a:r>
              <a:t>🛡️ Proteksi Pendapatan (Policy Guardrail)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AI dibatasi aturan bisnis ketat. Permohonan upgrade kamar mewah gratis (S02) otomatis dikunci dan dialihkan ke persetujuan Manajer.</a:t>
            </a:r>
          </a:p>
          <a:p>
            <a:pPr>
              <a:spcBef>
                <a:spcPts val="1800"/>
              </a:spcBef>
              <a:defRPr sz="1100" b="1">
                <a:solidFill>
                  <a:srgbClr val="10B981"/>
                </a:solidFill>
              </a:defRPr>
            </a:pPr>
            <a:r>
              <a:t>Nilai Tambah Nyata: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Mencegah Kebocoran Finansial Rp 11.2 Juta / Bulan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ACE - INTELLIGENT MOBILE 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Antarmuka Ramah Manajemen: Bebas Jargon Koding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235"/>
                </a:solidFill>
              </a:defRPr>
            </a:pPr>
            <a:r>
              <a:t>🎬 4 Kartu Kasus Nyata (1-Click)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Menggantikan kode skenario rumit (S01-S06) dengan kartu cerita kasus nyata: Pak Budi (AC Bocor), Ibu Sarah (Minta Suite), Mas Kevin (Kamar Kotor), dan Mbak Rina (Sarapan).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235"/>
                </a:solidFill>
              </a:defRPr>
            </a:pPr>
            <a:r>
              <a:t>⏯️ Auto-Play Simulation Player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Kendali penuh simulasi layaknya video: tombol Play Otomatis (jeda ~1 detik per langkah), Pause, dan Langkah Manual untuk presentasi yang santai tanpa repot mengklik berulang.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235"/>
                </a:solidFill>
              </a:defRPr>
            </a:pPr>
            <a:r>
              <a:t>🚨 Universal Action Bar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Tombol persetujuan tamu (Setujui Pindah Kamar) dan eskalasi manajer (Ambil Alih Kasus) otomatis muncul di bagian atas layar di tab mana pun Anda berada. Pengguna tidak akan pernah tersesat!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069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235"/>
                </a:solidFill>
              </a:defRPr>
            </a:pPr>
            <a:r>
              <a:t>📖 Panduan Kilat 1-Menit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Menu panduan 3 langkah di bagian paling atas untuk memandu audiens/dosen menjalankan demo dalam 60 detik.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ACE - INTELLIGENT MOBILE 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Indikator Visual 6-Fase Alur Penanganan Komplain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1. Keluhan Masuk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</a:defRPr>
            </a:pPr>
            <a:r>
              <a:t>Pesan dari Tamu di HP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Scenario Scout membaca keluhan dan membuat tiket kasus resmi.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2. Analisis Kasus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</a:defRPr>
            </a:pPr>
            <a:r>
              <a:t>Evaluasi SOP Hotel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Orchestrator menganalisis keluhan dengan model ML dan memeriksa batasan SOP.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3. Koordinasi Dept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</a:defRPr>
            </a:pPr>
            <a:r>
              <a:t>Pemeriksaan Sistem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Mobile Investigator mengemas koper state (SHA-256) menuju database Housekeeping.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4. Verifikasi Fisik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</a:defRPr>
            </a:pPr>
            <a:r>
              <a:t>Kesiapan Kamar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Kamar R102 kotor otomatis dieliminasi; kamar R103 bersih &amp; siap huni dipilih.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069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5. Persetujuan / Staf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</a:defRPr>
            </a:pPr>
            <a:r>
              <a:t>Konfirmasi / Manajer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Proposal kamar dikirimkan ke HP tamu untuk disetujui, atau eskalasi ke staf.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4069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6. Masalah Selesai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</a:defRPr>
            </a:pPr>
            <a:r>
              <a:t>Kamar Resmi Pindah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Status reservasi diperbarui atomik tanpa komplain berulang.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ACE - INTELLIGENT MOBILE 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Dasbor Eksekutif: Metrik Nilai Bisnis &amp; Kalkulator ROI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Waktu Resolusi (MTTR)</a:t>
            </a:r>
          </a:p>
          <a:p>
            <a:pPr>
              <a:spcBef>
                <a:spcPts val="300"/>
              </a:spcBef>
              <a:defRPr sz="2000" b="1">
                <a:solidFill>
                  <a:srgbClr val="FF6B35"/>
                </a:solidFill>
              </a:defRPr>
            </a:pPr>
            <a:r>
              <a:t>&lt; 1 Menit</a:t>
            </a:r>
          </a:p>
          <a:p>
            <a:pPr>
              <a:spcBef>
                <a:spcPts val="200"/>
              </a:spcBef>
              <a:defRPr sz="900">
                <a:solidFill>
                  <a:srgbClr val="10B981"/>
                </a:solidFill>
              </a:defRPr>
            </a:pPr>
            <a:r>
              <a:t>97% Lebih Cepat vs 35 Menit 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Proteksi Pendapatan</a:t>
            </a:r>
          </a:p>
          <a:p>
            <a:pPr>
              <a:spcBef>
                <a:spcPts val="300"/>
              </a:spcBef>
              <a:defRPr sz="2000" b="1">
                <a:solidFill>
                  <a:srgbClr val="FF6B35"/>
                </a:solidFill>
              </a:defRPr>
            </a:pPr>
            <a:r>
              <a:t>100% Aman</a:t>
            </a:r>
          </a:p>
          <a:p>
            <a:pPr>
              <a:spcBef>
                <a:spcPts val="200"/>
              </a:spcBef>
              <a:defRPr sz="900">
                <a:solidFill>
                  <a:srgbClr val="10B981"/>
                </a:solidFill>
              </a:defRPr>
            </a:pPr>
            <a:r>
              <a:t>Zero Leakage via Policy Guardrail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Beban Meja Depan</a:t>
            </a:r>
          </a:p>
          <a:p>
            <a:pPr>
              <a:spcBef>
                <a:spcPts val="300"/>
              </a:spcBef>
              <a:defRPr sz="2000" b="1">
                <a:solidFill>
                  <a:srgbClr val="FF6B35"/>
                </a:solidFill>
              </a:defRPr>
            </a:pPr>
            <a:r>
              <a:t>-60%</a:t>
            </a:r>
          </a:p>
          <a:p>
            <a:pPr>
              <a:spcBef>
                <a:spcPts val="200"/>
              </a:spcBef>
              <a:defRPr sz="900">
                <a:solidFill>
                  <a:srgbClr val="10B981"/>
                </a:solidFill>
              </a:defRPr>
            </a:pPr>
            <a:r>
              <a:t>Otomasi Keluhan Kamar Rutin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7373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Kepuasan Tamu (CSAT)</a:t>
            </a:r>
          </a:p>
          <a:p>
            <a:pPr>
              <a:spcBef>
                <a:spcPts val="300"/>
              </a:spcBef>
              <a:defRPr sz="2000" b="1">
                <a:solidFill>
                  <a:srgbClr val="FF6B35"/>
                </a:solidFill>
              </a:defRPr>
            </a:pPr>
            <a:r>
              <a:t>4.9 / 5.0</a:t>
            </a:r>
          </a:p>
          <a:p>
            <a:pPr>
              <a:spcBef>
                <a:spcPts val="200"/>
              </a:spcBef>
              <a:defRPr sz="900">
                <a:solidFill>
                  <a:srgbClr val="10B981"/>
                </a:solidFill>
              </a:defRPr>
            </a:pPr>
            <a:r>
              <a:t>Mencegah Ulasan Bintang 1 Online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69848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235"/>
                </a:solidFill>
              </a:defRPr>
            </a:pPr>
            <a:r>
              <a:t>🧮 Hasil Simulasi ROI Hotel (Contoh Skala: 150 Kamar &amp; 15 Keluhan/Hari)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Waktu Staf Dihemat: </a:t>
            </a:r>
            <a:r>
              <a:rPr b="1">
                <a:solidFill>
                  <a:srgbClr val="FF6B35"/>
                </a:solidFill>
              </a:rPr>
              <a:t>360 Jam per Bulan — </a:t>
            </a:r>
            <a:r>
              <a:rPr b="0">
                <a:solidFill>
                  <a:srgbClr val="64748B"/>
                </a:solidFill>
              </a:rPr>
              <a:t>Setara dengan produktivitas 2 staf penuh waktu yang dapat dialihkan melayani tamu VIP.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Kebocoran Biaya Dicegah: </a:t>
            </a:r>
            <a:r>
              <a:rPr b="1">
                <a:solidFill>
                  <a:srgbClr val="FF6B35"/>
                </a:solidFill>
              </a:rPr>
              <a:t>Rp 11.250.000 per Bulan — </a:t>
            </a:r>
            <a:r>
              <a:rPr b="0">
                <a:solidFill>
                  <a:srgbClr val="64748B"/>
                </a:solidFill>
              </a:rPr>
              <a:t>Dihitung dari pencegahan 45 kasus permohonan upgrade liar (selisih tarif Rp250.000/kamar).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• Pencegahan Komplain Berulang: </a:t>
            </a:r>
            <a:r>
              <a:rPr b="1">
                <a:solidFill>
                  <a:srgbClr val="FF6B35"/>
                </a:solidFill>
              </a:rPr>
              <a:t>360 Tamu per Bulan — </a:t>
            </a:r>
            <a:r>
              <a:rPr b="0">
                <a:solidFill>
                  <a:srgbClr val="64748B"/>
                </a:solidFill>
              </a:rPr>
              <a:t>Tamu menerima solusi kamar bersih dalam &lt; 1 menit langsung di smartphone mereka.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ACE - INTELLIGENT MOBILE 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Arsitektur Sistem: Dua Node Logis &amp; Spesialisasi Agen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🏢 Node FRONT_OFFICE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Database In-Memory: Data Tamu, Reservasi, Folio Tagihan, FAQ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Scenario Scout: Membaca pesan tamu &amp; membuat tiket terstruktur.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Orchestrator: Triase keluhan, klasifikasi risiko ML, &amp; koordinasi alur.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Reservation Agent: Mencari kandidat kamar &amp; eksekusi commit mutasi.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Billing Agent: Membaca folio tagihan &amp; kalkulasi biaya minibar.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Concierge Agent: Menjawab FAQ umum hotel (check-in, check-out, Wi-Fi).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🔧 Node OPERATIONS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Database In-Memory: Kesiapan Fisik Kamar &amp; Tiket Petugas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Operations Agent: Koordinator pembersihan kamar &amp; tiket kerja staf fisik.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Mobile Investigator (MA-001): Agen yang bermigrasi dari Front Office ke Operations untuk menginspeksi kesiapan kamar langsung di sumber data.</a:t>
            </a:r>
          </a:p>
          <a:p>
            <a:pPr>
              <a:spcBef>
                <a:spcPts val="2200"/>
              </a:spcBef>
              <a:defRPr sz="1100" b="1">
                <a:solidFill>
                  <a:srgbClr val="FF6B35"/>
                </a:solidFill>
              </a:defRPr>
            </a:pPr>
            <a:r>
              <a:t>✈️ Siklus Migrasi State: PREPARE → DEPART → ARRIVE (SHA-256 Validated)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ACE - INTELLIGENT MOBILE 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Evaluasi Komparatif: Mobile Agent vs Static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235"/>
                </a:solidFill>
              </a:defRPr>
            </a:pPr>
            <a:r>
              <a:t>📊 Perbandingan Dua Jalur Arsitektur pada Skenario Identik (S01 &amp; S02)</a:t>
            </a:r>
          </a:p>
          <a:p>
            <a:pPr>
              <a:spcBef>
                <a:spcPts val="1000"/>
              </a:spcBef>
              <a:defRPr sz="1200" b="1">
                <a:solidFill>
                  <a:srgbClr val="182235"/>
                </a:solidFill>
              </a:defRPr>
            </a:pPr>
            <a:r>
              <a:t>• Lokasi Eksekusi Evaluasi: </a:t>
            </a:r>
            <a:r>
              <a:rPr b="0">
                <a:solidFill>
                  <a:srgbClr val="FF6B35"/>
                </a:solidFill>
              </a:rPr>
              <a:t>[Mobile] Instance agen bermigrasi ke node OPERATIONS dan menjalankan kernel inspeksi lokal.  vs  </a:t>
            </a:r>
            <a:r>
              <a:rPr b="0">
                <a:solidFill>
                  <a:srgbClr val="64748B"/>
                </a:solidFill>
              </a:rPr>
              <a:t>[Static] Agen tetap berada di FRONT_OFFICE dan mengirim request RPC berulang.</a:t>
            </a:r>
          </a:p>
          <a:p>
            <a:pPr>
              <a:spcBef>
                <a:spcPts val="1000"/>
              </a:spcBef>
              <a:defRPr sz="1200" b="1">
                <a:solidFill>
                  <a:srgbClr val="182235"/>
                </a:solidFill>
              </a:defRPr>
            </a:pPr>
            <a:r>
              <a:t>• Efisiensi Komunikasi: </a:t>
            </a:r>
            <a:r>
              <a:rPr b="0">
                <a:solidFill>
                  <a:srgbClr val="FF6B35"/>
                </a:solidFill>
              </a:rPr>
              <a:t>[Mobile] Hanya 1 kali pengiriman koper state JSON kanonik.  vs  </a:t>
            </a:r>
            <a:r>
              <a:rPr b="0">
                <a:solidFill>
                  <a:srgbClr val="64748B"/>
                </a:solidFill>
              </a:rPr>
              <a:t>[Static] Mengandalkan pertukaran pesan request/response multi-hop.</a:t>
            </a:r>
          </a:p>
          <a:p>
            <a:pPr>
              <a:spcBef>
                <a:spcPts val="1000"/>
              </a:spcBef>
              <a:defRPr sz="1200" b="1">
                <a:solidFill>
                  <a:srgbClr val="182235"/>
                </a:solidFill>
              </a:defRPr>
            </a:pPr>
            <a:r>
              <a:t>• Privasi &amp; Keamanan Data: </a:t>
            </a:r>
            <a:r>
              <a:rPr b="0">
                <a:solidFill>
                  <a:srgbClr val="FF6B35"/>
                </a:solidFill>
              </a:rPr>
              <a:t>[Mobile] Data audit operasional internal tetap berada di node lokal (Zero Data Leakage).  vs  </a:t>
            </a:r>
            <a:r>
              <a:rPr b="0">
                <a:solidFill>
                  <a:srgbClr val="64748B"/>
                </a:solidFill>
              </a:rPr>
              <a:t>[Static] Data operasional harus dikirim melintasi batas jaringan Front Office.</a:t>
            </a:r>
          </a:p>
          <a:p>
            <a:pPr>
              <a:spcBef>
                <a:spcPts val="1000"/>
              </a:spcBef>
              <a:defRPr sz="1200" b="1">
                <a:solidFill>
                  <a:srgbClr val="182235"/>
                </a:solidFill>
              </a:defRPr>
            </a:pPr>
            <a:r>
              <a:t>• Kesetaraan Hasil Bisnis: </a:t>
            </a:r>
            <a:r>
              <a:rPr b="0">
                <a:solidFill>
                  <a:srgbClr val="FF6B35"/>
                </a:solidFill>
              </a:rPr>
              <a:t>[Mobile] Keputusan kamar (R103) dan tarif akhir 100% identik.  vs  </a:t>
            </a:r>
            <a:r>
              <a:rPr b="0">
                <a:solidFill>
                  <a:srgbClr val="64748B"/>
                </a:solidFill>
              </a:rPr>
              <a:t>[Static] Keputusan kamar (R103) dan tarif akhir 100% identik.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ACE - INTELLIGENT MOBILE 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Pengujian Otomatis &amp; Keandalan Sistem (68/68 Passed)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235"/>
                </a:solidFill>
              </a:defRPr>
            </a:pPr>
            <a:r>
              <a:t>Integritas Migrasi State</a:t>
            </a:r>
          </a:p>
          <a:p>
            <a:pPr>
              <a:spcBef>
                <a:spcPts val="300"/>
              </a:spcBef>
              <a:defRPr sz="1100" b="1">
                <a:solidFill>
                  <a:srgbClr val="10B981"/>
                </a:solidFill>
              </a:defRPr>
            </a:pPr>
            <a:r>
              <a:t>Status: 100% Lulus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Verifikasi SHA-256 hash, jaminan single-instance active, serta mekanisme restore/rollback jika transit gagal.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235"/>
                </a:solidFill>
              </a:defRPr>
            </a:pPr>
            <a:r>
              <a:t>Policy Guardrail vs ML</a:t>
            </a:r>
          </a:p>
          <a:p>
            <a:pPr>
              <a:spcBef>
                <a:spcPts val="300"/>
              </a:spcBef>
              <a:defRPr sz="1100" b="1">
                <a:solidFill>
                  <a:srgbClr val="10B981"/>
                </a:solidFill>
              </a:defRPr>
            </a:pPr>
            <a:r>
              <a:t>Status: 100% Lulus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Model Logistic Regression mengklasifikasikan risiko komplain; Aturan Kebijakan Bisnis selalu mengesampingkan ML jika terjadi sengketa.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235"/>
                </a:solidFill>
              </a:defRPr>
            </a:pPr>
            <a:r>
              <a:t>Konsistensi Transaksi DB</a:t>
            </a:r>
          </a:p>
          <a:p>
            <a:pPr>
              <a:spcBef>
                <a:spcPts val="300"/>
              </a:spcBef>
              <a:defRPr sz="1100" b="1">
                <a:solidFill>
                  <a:srgbClr val="10B981"/>
                </a:solidFill>
              </a:defRPr>
            </a:pPr>
            <a:r>
              <a:t>Status: 100% Lulus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Dua database SQLite in-memory terisolasi; mutasi kamar bersifat atomik dan aman dari konflik konkurensi.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069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235"/>
                </a:solidFill>
              </a:defRPr>
            </a:pPr>
            <a:r>
              <a:t>Automated Test Suite (pytest)</a:t>
            </a:r>
          </a:p>
          <a:p>
            <a:pPr>
              <a:spcBef>
                <a:spcPts val="300"/>
              </a:spcBef>
              <a:defRPr sz="1100" b="1">
                <a:solidFill>
                  <a:srgbClr val="10B981"/>
                </a:solidFill>
              </a:defRPr>
            </a:pPr>
            <a:r>
              <a:t>Status: 68 / 68 Passed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Seluruh 68 automated unit &amp; integration tests selesai dalam waktu 3.3 detik secara deterministik dan offline.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Kesimpulan &amp; Dampak bagi Industri Perhotelan</a:t>
            </a:r>
          </a:p>
          <a:p>
            <a:pPr>
              <a:spcBef>
                <a:spcPts val="1400"/>
              </a:spcBef>
              <a:defRPr sz="1500">
                <a:solidFill>
                  <a:srgbClr val="E2E8F0"/>
                </a:solidFill>
              </a:defRPr>
            </a:pPr>
            <a:r>
              <a:t>• Membuktikan kelayakan paradigma Mobile Agent dalam menyelesaikan komplain kamar hotel dalam hitungan detik.</a:t>
            </a:r>
          </a:p>
          <a:p>
            <a:pPr>
              <a:spcBef>
                <a:spcPts val="1400"/>
              </a:spcBef>
              <a:defRPr sz="1500">
                <a:solidFill>
                  <a:srgbClr val="E2E8F0"/>
                </a:solidFill>
              </a:defRPr>
            </a:pPr>
            <a:r>
              <a:t>• Mencegah 'Double Complaint' dengan memverifikasi kesiapan fisik kamar secara lokal langsung di database operasional.</a:t>
            </a:r>
          </a:p>
          <a:p>
            <a:pPr>
              <a:spcBef>
                <a:spcPts val="1400"/>
              </a:spcBef>
              <a:defRPr sz="1500">
                <a:solidFill>
                  <a:srgbClr val="E2E8F0"/>
                </a:solidFill>
              </a:defRPr>
            </a:pPr>
            <a:r>
              <a:t>• Menjamin perlindungan pendapatan hotel dari kompensasi liar melalui Policy Guardrail yang kokoh.</a:t>
            </a:r>
          </a:p>
          <a:p>
            <a:pPr>
              <a:spcBef>
                <a:spcPts val="1400"/>
              </a:spcBef>
              <a:defRPr sz="1500">
                <a:solidFill>
                  <a:srgbClr val="E2E8F0"/>
                </a:solidFill>
              </a:defRPr>
            </a:pPr>
            <a:r>
              <a:t>• Menyediakan antarmuka intuitif bagi 3 pemangku kepentingan: Tamu Hotel, Staf Operasional, dan Tim Manajemen/IT.</a:t>
            </a:r>
          </a:p>
          <a:p>
            <a:pPr>
              <a:spcBef>
                <a:spcPts val="2600"/>
              </a:spcBef>
              <a:defRPr sz="2000" b="1">
                <a:solidFill>
                  <a:srgbClr val="FF6B35"/>
                </a:solidFill>
              </a:defRPr>
            </a:pPr>
            <a:r>
              <a:t>Terima Kasih — Kelompok 5 (Agent Enterprise)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