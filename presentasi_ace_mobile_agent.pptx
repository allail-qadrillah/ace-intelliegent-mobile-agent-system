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1371600"/>
            <a:ext cx="1097280" cy="7315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ACE — Intelligent Mobile Agent System</a:t>
            </a:r>
          </a:p>
          <a:p>
            <a:pPr>
              <a:spcBef>
                <a:spcPts val="1400"/>
              </a:spcBef>
              <a:defRPr sz="1800">
                <a:solidFill>
                  <a:srgbClr val="CBD5E1"/>
                </a:solidFill>
              </a:defRPr>
            </a:pPr>
            <a:r>
              <a:t>Simulasi Multi-Agent Customer Service Hotel dengan Migrasi State Mobile Agent Antar-Node Logis</a:t>
            </a:r>
          </a:p>
          <a:p>
            <a:pPr>
              <a:spcBef>
                <a:spcPts val="2000"/>
              </a:spcBef>
              <a:defRPr sz="1400" b="1">
                <a:solidFill>
                  <a:srgbClr val="FF6B35"/>
                </a:solidFill>
              </a:defRPr>
            </a:pPr>
            <a:r>
              <a:t>Mata Kuliah: Agent Enterprise  |  Program Studi Informatika / Sistem Informasi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4754880"/>
            <a:ext cx="10332720" cy="1371600"/>
          </a:xfrm>
          <a:prstGeom prst="roundRect">
            <a:avLst/>
          </a:prstGeom>
          <a:solidFill>
            <a:srgbClr val="212E46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4846320"/>
            <a:ext cx="996696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6B35"/>
                </a:solidFill>
              </a:defRPr>
            </a:pPr>
            <a:r>
              <a:t>Disusun oleh: KELOMPOK 5</a:t>
            </a:r>
          </a:p>
          <a:p>
            <a:pPr>
              <a:spcBef>
                <a:spcPts val="800"/>
              </a:spcBef>
              <a:defRPr sz="1400">
                <a:solidFill>
                  <a:srgbClr val="FFFFFF"/>
                </a:solidFill>
              </a:defRPr>
            </a:pPr>
            <a:r>
              <a:t>• M. Al lail Qadrillah     • Dimas Prabowo     • Monanta Alfiareza     • Frans Alwan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Hotel Fiktif: Hotel Nusantara Demo  |  100% Offline, Deterministic, &amp; Local Simulation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6B35"/>
                </a:solidFill>
              </a:defRPr>
            </a:pPr>
            <a:r>
              <a:t>ACE - INTELLIGENT MOBILE AGENT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82235"/>
                </a:solidFill>
              </a:defRPr>
            </a:pPr>
            <a:r>
              <a:t>Latar Belakang: Tantangan Operasional Customer Service Hotel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6B35"/>
                </a:solidFill>
              </a:defRPr>
            </a:pPr>
            <a:r>
              <a:t>01</a:t>
            </a:r>
          </a:p>
          <a:p>
            <a:pPr>
              <a:spcBef>
                <a:spcPts val="1000"/>
              </a:spcBef>
              <a:defRPr sz="1600" b="1">
                <a:solidFill>
                  <a:srgbClr val="182235"/>
                </a:solidFill>
              </a:defRPr>
            </a:pPr>
            <a:r>
              <a:t>Tantangan Integrasi Data</a:t>
            </a:r>
          </a:p>
          <a:p>
            <a:pPr>
              <a:spcBef>
                <a:spcPts val="1400"/>
              </a:spcBef>
              <a:defRPr sz="1300">
                <a:solidFill>
                  <a:srgbClr val="1E293B"/>
                </a:solidFill>
              </a:defRPr>
            </a:pPr>
            <a:r>
              <a:t>Data Front Office (reservasi &amp; tamu) terpisah secara logis dan fisik dari data Operations (housekeeping &amp; kesiapan teknis kamar). Integrasi manual sering memicu delay dan salah kamar.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82880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6B35"/>
                </a:solidFill>
              </a:defRPr>
            </a:pPr>
            <a:r>
              <a:t>02</a:t>
            </a:r>
          </a:p>
          <a:p>
            <a:pPr>
              <a:spcBef>
                <a:spcPts val="1000"/>
              </a:spcBef>
              <a:defRPr sz="1600" b="1">
                <a:solidFill>
                  <a:srgbClr val="182235"/>
                </a:solidFill>
              </a:defRPr>
            </a:pPr>
            <a:r>
              <a:t>Keterbatasan Pendekatan Statis</a:t>
            </a:r>
          </a:p>
          <a:p>
            <a:pPr>
              <a:spcBef>
                <a:spcPts val="1400"/>
              </a:spcBef>
              <a:defRPr sz="1300">
                <a:solidFill>
                  <a:srgbClr val="1E293B"/>
                </a:solidFill>
              </a:defRPr>
            </a:pPr>
            <a:r>
              <a:t>Pada arsitektur agen tradisional, agen pusat harus meminta seluruh data database untuk diinspeksi ke node pusat, menimbulkan pemborosan bandwidth dan risiko kebocoran data sensitif.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82880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6B35"/>
                </a:solidFill>
              </a:defRPr>
            </a:pPr>
            <a:r>
              <a:t>03</a:t>
            </a:r>
          </a:p>
          <a:p>
            <a:pPr>
              <a:spcBef>
                <a:spcPts val="1000"/>
              </a:spcBef>
              <a:defRPr sz="1600" b="1">
                <a:solidFill>
                  <a:srgbClr val="182235"/>
                </a:solidFill>
              </a:defRPr>
            </a:pPr>
            <a:r>
              <a:t>Solusi: Konsep Mobile Agent</a:t>
            </a:r>
          </a:p>
          <a:p>
            <a:pPr>
              <a:spcBef>
                <a:spcPts val="1400"/>
              </a:spcBef>
              <a:defRPr sz="1300">
                <a:solidFill>
                  <a:srgbClr val="1E293B"/>
                </a:solidFill>
              </a:defRPr>
            </a:pPr>
            <a:r>
              <a:t>Memungkinkan agen cerdas (Mobile Investigator) berpindah lokasi eksekusi langsung ke node tempat data berada, menginspeksi secara lokal, dan hanya mengirimkan hasil akhir.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6B35"/>
                </a:solidFill>
              </a:defRPr>
            </a:pPr>
            <a:r>
              <a:t>ACE - INTELLIGENT MOBILE AGENT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82235"/>
                </a:solidFill>
              </a:defRPr>
            </a:pPr>
            <a:r>
              <a:t>Paradigma: Mobile Agent vs Static Agent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572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82235"/>
                </a:solidFill>
              </a:defRPr>
            </a:pPr>
            <a:r>
              <a:t>🏢 Static Agent (Baseline)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</a:defRPr>
            </a:pPr>
            <a:r>
              <a:t>• Agen investigator menetap di Front Office.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</a:defRPr>
            </a:pPr>
            <a:r>
              <a:t>• Mengirim batch RPC request 'INSPECT_CANDIDATES' ke Operations Agent.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</a:defRPr>
            </a:pPr>
            <a:r>
              <a:t>• Data ditarik melintasi jaringan/node.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</a:defRPr>
            </a:pPr>
            <a:r>
              <a:t>• 0 Migrasi agen terjadi.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</a:defRPr>
            </a:pPr>
            <a:r>
              <a:t>• Hasil bisnis sama, tetapi bergantung pada transfer data bolak-balik.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828800"/>
            <a:ext cx="4572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6B35"/>
                </a:solidFill>
              </a:defRPr>
            </a:pPr>
            <a:r>
              <a:t>🚀 Mobile Agent (Pendekatan Proyek)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</a:defRPr>
            </a:pPr>
            <a:r>
              <a:t>• Agen Mobile Investigator mengepak state ke Checkpoint JSON kanonik.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</a:defRPr>
            </a:pPr>
            <a:r>
              <a:t>• Instance lama ditutup (Depart), instance baru lahir di node Operations (Arrive).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</a:defRPr>
            </a:pPr>
            <a:r>
              <a:t>• Inspeksi dilakukan secara lokal di node data Operations.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</a:defRPr>
            </a:pPr>
            <a:r>
              <a:t>• 1 Migrasi sukses dengan kontinuitas ID ('MA-001').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</a:defRPr>
            </a:pPr>
            <a:r>
              <a:t>• Hanya hasil akhir yang dilaporkan kembali ke Front Office.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6B35"/>
                </a:solidFill>
              </a:defRPr>
            </a:pPr>
            <a:r>
              <a:t>ACE - INTELLIGENT MOBILE AGENT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82235"/>
                </a:solidFill>
              </a:defRPr>
            </a:pPr>
            <a:r>
              <a:t>Arsitektur Sistem: Dua Node Logis &amp; Spesialisasi Agen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572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563EB"/>
                </a:solidFill>
              </a:defRPr>
            </a:pPr>
            <a:r>
              <a:t>🏢 Node FRONT_OFFICE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</a:defRPr>
            </a:pPr>
            <a:r>
              <a:t>Database In-Memory: Data Tamu, Reservasi, Folio, FAQ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• Scenario Scout: Menerima pesan tamu &amp; menyusun request terstruktur.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• Orchestrator: Pusat koordinasi, triase policy/ML, &amp; manajemen kasus.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• Reservation Agent: Mencari kandidat kamar &amp; eksekusi commit mutasi kamar.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• Billing Agent: Membaca folio tagihan &amp; kalkulasi biaya minibar/kamar.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• Concierge Agent: Menjawab FAQ hotel (check-in, check-out, Wi-Fi).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828800"/>
            <a:ext cx="4572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B981"/>
                </a:solidFill>
              </a:defRPr>
            </a:pPr>
            <a:r>
              <a:t>🔧 Node OPERATIONS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</a:defRPr>
            </a:pPr>
            <a:r>
              <a:t>Database In-Memory: Status Kesiapan Kamar &amp; Tiket Petugas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</a:defRPr>
            </a:pPr>
            <a:r>
              <a:t>• Operations Agent: Mengelola kesiapan fisik kamar, pemblokiran maintenance, &amp; tiket staf.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</a:defRPr>
            </a:pPr>
            <a:r>
              <a:t>• Mobile Investigator (MA-001): Agen yang bermigrasi dari Front Office ke Operations untuk menginspeksi kesiapan kamar langsung di sumber data.</a:t>
            </a:r>
          </a:p>
          <a:p>
            <a:pPr>
              <a:spcBef>
                <a:spcPts val="2400"/>
              </a:spcBef>
              <a:defRPr sz="1100" b="1">
                <a:solidFill>
                  <a:srgbClr val="FF6B35"/>
                </a:solidFill>
              </a:defRPr>
            </a:pPr>
            <a:r>
              <a:t>🔒 Kontrol Akses: Agen tidak dapat mengakses data di luar kapabilitas node tempat ia aktif saat ini.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6B35"/>
                </a:solidFill>
              </a:defRPr>
            </a:pPr>
            <a:r>
              <a:t>ACE - INTELLIGENT MOBILE AGENT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82235"/>
                </a:solidFill>
              </a:defRPr>
            </a:pPr>
            <a:r>
              <a:t>Protokol Migrasi State Agen &amp; Jaminan Keamanan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4688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21945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6B35"/>
                </a:solidFill>
              </a:defRPr>
            </a:pPr>
            <a:r>
              <a:t>1. PREPARE</a:t>
            </a:r>
          </a:p>
          <a:p>
            <a:pPr>
              <a:spcBef>
                <a:spcPts val="1200"/>
              </a:spcBef>
              <a:defRPr sz="1200">
                <a:solidFill>
                  <a:srgbClr val="1E293B"/>
                </a:solidFill>
              </a:defRPr>
            </a:pPr>
            <a:r>
              <a:t>Serialisasi state agen (goal, kandidat kamar, constraints) menjadi Checkpoint JSON kanonik UTF-8. Menghasilkan hash SHA-256.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645920"/>
            <a:ext cx="24688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11880" y="1828800"/>
            <a:ext cx="21945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6B35"/>
                </a:solidFill>
              </a:defRPr>
            </a:pPr>
            <a:r>
              <a:t>2. DEPART</a:t>
            </a:r>
          </a:p>
          <a:p>
            <a:pPr>
              <a:spcBef>
                <a:spcPts val="1200"/>
              </a:spcBef>
              <a:defRPr sz="1200">
                <a:solidFill>
                  <a:srgbClr val="1E293B"/>
                </a:solidFill>
              </a:defRPr>
            </a:pPr>
            <a:r>
              <a:t>Instance agen di node asal ditutup dan diarsipkan. Instance aktif = 0; agen hanya berada di jalur transit.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24688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828800"/>
            <a:ext cx="21945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6B35"/>
                </a:solidFill>
              </a:defRPr>
            </a:pPr>
            <a:r>
              <a:t>3. ARRIVE</a:t>
            </a:r>
          </a:p>
          <a:p>
            <a:pPr>
              <a:spcBef>
                <a:spcPts val="1200"/>
              </a:spcBef>
              <a:defRPr sz="1200">
                <a:solidFill>
                  <a:srgbClr val="1E293B"/>
                </a:solidFill>
              </a:defRPr>
            </a:pPr>
            <a:r>
              <a:t>Instance baru dibuat di node tujuan dari checkpoint. Integritas hash SHA-256 &amp; skema divalidasi sebelum aktivasi.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0" y="1645920"/>
            <a:ext cx="24688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98280" y="1828800"/>
            <a:ext cx="21945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6B35"/>
                </a:solidFill>
              </a:defRPr>
            </a:pPr>
            <a:r>
              <a:t>4. ROLLBACK</a:t>
            </a:r>
          </a:p>
          <a:p>
            <a:pPr>
              <a:spcBef>
                <a:spcPts val="1200"/>
              </a:spcBef>
              <a:defRPr sz="1200">
                <a:solidFill>
                  <a:srgbClr val="1E293B"/>
                </a:solidFill>
              </a:defRPr>
            </a:pPr>
            <a:r>
              <a:t>Jika terjadi anomali (hash rusak, skema tidak cocok), mekanisme rollback memulihkan agen ke node asal secara aman.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6B35"/>
                </a:solidFill>
              </a:defRPr>
            </a:pPr>
            <a:r>
              <a:t>ACE - INTELLIGENT MOBILE AGENT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82235"/>
                </a:solidFill>
              </a:defRPr>
            </a:pPr>
            <a:r>
              <a:t>Antarmuka Berbasis Peran (Multi-Stakeholder Experience)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82235"/>
                </a:solidFill>
              </a:defRPr>
            </a:pPr>
            <a:r>
              <a:t>🛎️ Tamu Hotel (Customer)</a:t>
            </a:r>
          </a:p>
          <a:p>
            <a:pPr>
              <a:spcBef>
                <a:spcPts val="1400"/>
              </a:spcBef>
              <a:defRPr sz="1200">
                <a:solidFill>
                  <a:srgbClr val="1E293B"/>
                </a:solidFill>
              </a:defRPr>
            </a:pPr>
            <a:r>
              <a:t>Portal interaktif ramah pengguna:</a:t>
            </a:r>
            <a:br/>
            <a:r>
              <a:t>• Chat asisten AI hotel</a:t>
            </a:r>
            <a:br/>
            <a:r>
              <a:t>• Kartu penawaran kamar baru (bersih &amp; setara)</a:t>
            </a:r>
            <a:br/>
            <a:r>
              <a:t>• Tombol persetujuan tamu (Consent) langsung</a:t>
            </a:r>
            <a:br/>
            <a:r>
              <a:t>• Pilihan layanan cepat &amp; pesan bebas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82880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82235"/>
                </a:solidFill>
              </a:defRPr>
            </a:pPr>
            <a:r>
              <a:t>👔 Staf Hotel (Operations)</a:t>
            </a:r>
          </a:p>
          <a:p>
            <a:pPr>
              <a:spcBef>
                <a:spcPts val="1400"/>
              </a:spcBef>
              <a:defRPr sz="1200">
                <a:solidFill>
                  <a:srgbClr val="1E293B"/>
                </a:solidFill>
              </a:defRPr>
            </a:pPr>
            <a:r>
              <a:t>Dashboard operasional terpadu:</a:t>
            </a:r>
            <a:br/>
            <a:r>
              <a:t>• Ringkasan KPI tiket tugas &amp; eskalasi</a:t>
            </a:r>
            <a:br/>
            <a:r>
              <a:t>• Inbox eskalasi kasus yang butuh staf</a:t>
            </a:r>
            <a:br/>
            <a:r>
              <a:t>• Tombol 'Ambil Alih' &amp; resolusi catatan staf</a:t>
            </a:r>
            <a:br/>
            <a:r>
              <a:t>• Papan kerja tiket housekeeping/maintenance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82880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82235"/>
                </a:solidFill>
              </a:defRPr>
            </a:pPr>
            <a:r>
              <a:t>💻 Tim IT / DevOps</a:t>
            </a:r>
          </a:p>
          <a:p>
            <a:pPr>
              <a:spcBef>
                <a:spcPts val="1400"/>
              </a:spcBef>
              <a:defRPr sz="1200">
                <a:solidFill>
                  <a:srgbClr val="1E293B"/>
                </a:solidFill>
              </a:defRPr>
            </a:pPr>
            <a:r>
              <a:t>Konsol observabilitas mendalam:</a:t>
            </a:r>
            <a:br/>
            <a:r>
              <a:t>• Pemantauan topologi agen &amp; node</a:t>
            </a:r>
            <a:br/>
            <a:r>
              <a:t>• Verifikasi integritas hash SHA-256</a:t>
            </a:r>
            <a:br/>
            <a:r>
              <a:t>• Pengukuran payload bytes &amp; latency</a:t>
            </a:r>
            <a:br/>
            <a:r>
              <a:t>• Unduh laporan audit log JSON lengkap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6B35"/>
                </a:solidFill>
              </a:defRPr>
            </a:pPr>
            <a:r>
              <a:t>ACE - INTELLIGENT MOBILE AGENT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82235"/>
                </a:solidFill>
              </a:defRPr>
            </a:pPr>
            <a:r>
              <a:t>9 Skenario Pengujian Realistis &amp; Otomatisasi 1-Klik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6B35"/>
                </a:solidFill>
              </a:defRPr>
            </a:pPr>
            <a:r>
              <a:t>S01: AC Rusak — Kamar Setara</a:t>
            </a:r>
          </a:p>
          <a:p>
            <a:pPr>
              <a:spcBef>
                <a:spcPts val="300"/>
              </a:spcBef>
              <a:defRPr sz="1000">
                <a:solidFill>
                  <a:srgbClr val="1E293B"/>
                </a:solidFill>
              </a:defRPr>
            </a:pPr>
            <a:r>
              <a:t>Migrasi Mobile Investigator -&gt; Temukan R103 ready -&gt; Proposal -&gt; Persetujuan Tamu -&gt; Selesai Digital.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38328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173736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6B35"/>
                </a:solidFill>
              </a:defRPr>
            </a:pPr>
            <a:r>
              <a:t>S02: AC Rusak — Minta Upgrade</a:t>
            </a:r>
          </a:p>
          <a:p>
            <a:pPr>
              <a:spcBef>
                <a:spcPts val="300"/>
              </a:spcBef>
              <a:defRPr sz="1000">
                <a:solidFill>
                  <a:srgbClr val="1E293B"/>
                </a:solidFill>
              </a:defRPr>
            </a:pPr>
            <a:r>
              <a:t>Kamar setara habis. Bukti terkumpul, namun dialihkan ke staf karena aturan wajib eskalasi upgrade.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83880" y="173736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6B35"/>
                </a:solidFill>
              </a:defRPr>
            </a:pPr>
            <a:r>
              <a:t>S03: Sengketa Tagihan Minibar</a:t>
            </a:r>
          </a:p>
          <a:p>
            <a:pPr>
              <a:spcBef>
                <a:spcPts val="300"/>
              </a:spcBef>
              <a:defRPr sz="1000">
                <a:solidFill>
                  <a:srgbClr val="1E293B"/>
                </a:solidFill>
              </a:defRPr>
            </a:pPr>
            <a:r>
              <a:t>Tamu menolak tagihan F02. Kebijakan finansial wajib eskalasi staf (WAITING_HUMAN).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108960"/>
            <a:ext cx="338328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0040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6B35"/>
                </a:solidFill>
              </a:defRPr>
            </a:pPr>
            <a:r>
              <a:t>S04: Tanya Jam Check-In</a:t>
            </a:r>
          </a:p>
          <a:p>
            <a:pPr>
              <a:spcBef>
                <a:spcPts val="300"/>
              </a:spcBef>
              <a:defRPr sz="1000">
                <a:solidFill>
                  <a:srgbClr val="1E293B"/>
                </a:solidFill>
              </a:defRPr>
            </a:pPr>
            <a:r>
              <a:t>Pertanyaan jam operasional. Dijawab instan oleh Concierge Agent dari FAQ lokal (14.00).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3108960"/>
            <a:ext cx="338328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320040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6B35"/>
                </a:solidFill>
              </a:defRPr>
            </a:pPr>
            <a:r>
              <a:t>S05: Permintaan Handuk</a:t>
            </a:r>
          </a:p>
          <a:p>
            <a:pPr>
              <a:spcBef>
                <a:spcPts val="300"/>
              </a:spcBef>
              <a:defRPr sz="1000">
                <a:solidFill>
                  <a:srgbClr val="1E293B"/>
                </a:solidFill>
              </a:defRPr>
            </a:pPr>
            <a:r>
              <a:t>Layanan kamar. Tiket Housekeeping dibuat otomatis (PENDING -&gt; IN_PROGRESS -&gt; DONE).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3108960"/>
            <a:ext cx="338328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83880" y="320040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6B35"/>
                </a:solidFill>
              </a:defRPr>
            </a:pPr>
            <a:r>
              <a:t>S06: Rincian Tagihan</a:t>
            </a:r>
          </a:p>
          <a:p>
            <a:pPr>
              <a:spcBef>
                <a:spcPts val="300"/>
              </a:spcBef>
              <a:defRPr sz="1000">
                <a:solidFill>
                  <a:srgbClr val="1E293B"/>
                </a:solidFill>
              </a:defRPr>
            </a:pPr>
            <a:r>
              <a:t>Menampilkan folio tagihan terperinci (Total Rp650.000) tanpa perubahan saldo.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572000"/>
            <a:ext cx="338328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66344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6B35"/>
                </a:solidFill>
              </a:defRPr>
            </a:pPr>
            <a:r>
              <a:t>S07: Jam Check-Out &amp; Late</a:t>
            </a:r>
          </a:p>
          <a:p>
            <a:pPr>
              <a:spcBef>
                <a:spcPts val="300"/>
              </a:spcBef>
              <a:defRPr sz="1000">
                <a:solidFill>
                  <a:srgbClr val="1E293B"/>
                </a:solidFill>
              </a:defRPr>
            </a:pPr>
            <a:r>
              <a:t>Informasi check-out maksimal 12.00 WIB dan alur permohonan late check-out.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89120" y="4572000"/>
            <a:ext cx="338328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26280" y="466344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6B35"/>
                </a:solidFill>
              </a:defRPr>
            </a:pPr>
            <a:r>
              <a:t>S08: Permintaan Bantal Tambahan</a:t>
            </a:r>
          </a:p>
          <a:p>
            <a:pPr>
              <a:spcBef>
                <a:spcPts val="300"/>
              </a:spcBef>
              <a:defRPr sz="1000">
                <a:solidFill>
                  <a:srgbClr val="1E293B"/>
                </a:solidFill>
              </a:defRPr>
            </a:pPr>
            <a:r>
              <a:t>Housekeeping membuat work order antar bantal tambahan ke kamar tamu.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4572000"/>
            <a:ext cx="338328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83880" y="466344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6B35"/>
                </a:solidFill>
              </a:defRPr>
            </a:pPr>
            <a:r>
              <a:t>S09: Informasi Wi-Fi Hotel</a:t>
            </a:r>
          </a:p>
          <a:p>
            <a:pPr>
              <a:spcBef>
                <a:spcPts val="300"/>
              </a:spcBef>
              <a:defRPr sz="1000">
                <a:solidFill>
                  <a:srgbClr val="1E293B"/>
                </a:solidFill>
              </a:defRPr>
            </a:pPr>
            <a:r>
              <a:t>Concierge menjawab detail SSID HotelNusantara_Guest tanpa kata sandi.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6B35"/>
                </a:solidFill>
              </a:defRPr>
            </a:pPr>
            <a:r>
              <a:t>ACE - INTELLIGENT MOBILE AGENT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82235"/>
                </a:solidFill>
              </a:defRPr>
            </a:pPr>
            <a:r>
              <a:t>Evaluasi &amp; Benchmark: Kesetaraan Hasil Bisnis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101498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82235"/>
                </a:solidFill>
              </a:defRPr>
            </a:pPr>
            <a:r>
              <a:t>📊 Temuan Utama Evaluasi Komparatif (S01 &amp; S02)</a:t>
            </a:r>
          </a:p>
          <a:p>
            <a:pPr>
              <a:spcBef>
                <a:spcPts val="1200"/>
              </a:spcBef>
              <a:defRPr sz="1300" b="1">
                <a:solidFill>
                  <a:srgbClr val="FF6B35"/>
                </a:solidFill>
              </a:defRPr>
            </a:pPr>
            <a:r>
              <a:t>✓ Hasil Bisnis 100% Identik: </a:t>
            </a:r>
            <a:r>
              <a:rPr b="0">
                <a:solidFill>
                  <a:srgbClr val="1E293B"/>
                </a:solidFill>
              </a:rPr>
              <a:t>Kedua jalur (Mobile dan Static) menghasilkan keputusan kamar, tarif akhir, dan status tiket yang sama persis karena berbagi kernel evaluasi murni ('evaluate_candidates').</a:t>
            </a:r>
          </a:p>
          <a:p>
            <a:pPr>
              <a:spcBef>
                <a:spcPts val="1200"/>
              </a:spcBef>
              <a:defRPr sz="1300" b="1">
                <a:solidFill>
                  <a:srgbClr val="FF6B35"/>
                </a:solidFill>
              </a:defRPr>
            </a:pPr>
            <a:r>
              <a:t>✓ Efisiensi Payload &amp; Trafik Komunikasi: </a:t>
            </a:r>
            <a:r>
              <a:rPr b="0">
                <a:solidFill>
                  <a:srgbClr val="1E293B"/>
                </a:solidFill>
              </a:rPr>
              <a:t>Jalur Mobile Agent mengemas migrasi dalam satu checkpoint kanonik. Tidak ada polling berulang atau penarikan seluruh database reservasi/kamar.</a:t>
            </a:r>
          </a:p>
          <a:p>
            <a:pPr>
              <a:spcBef>
                <a:spcPts val="1200"/>
              </a:spcBef>
              <a:defRPr sz="1300" b="1">
                <a:solidFill>
                  <a:srgbClr val="FF6B35"/>
                </a:solidFill>
              </a:defRPr>
            </a:pPr>
            <a:r>
              <a:t>✓ Keandalan &amp; Kebijakan (Policy vs ML): </a:t>
            </a:r>
            <a:r>
              <a:rPr b="0">
                <a:solidFill>
                  <a:srgbClr val="1E293B"/>
                </a:solidFill>
              </a:rPr>
              <a:t>Prediksi Machine Learning (Logistic Regression) dikombinasikan dengan Mandatory Rules. Jika terdeteksi risiko tinggi/sengketa/permintaan staf, aturan bisnis selalu mengesampingkan ML.</a:t>
            </a:r>
          </a:p>
          <a:p>
            <a:pPr>
              <a:spcBef>
                <a:spcPts val="1200"/>
              </a:spcBef>
              <a:defRPr sz="1300" b="1">
                <a:solidFill>
                  <a:srgbClr val="FF6B35"/>
                </a:solidFill>
              </a:defRPr>
            </a:pPr>
            <a:r>
              <a:t>✓ Pengujian Otomatis Menyeluruh: </a:t>
            </a:r>
            <a:r>
              <a:rPr b="0">
                <a:solidFill>
                  <a:srgbClr val="1E293B"/>
                </a:solidFill>
              </a:rPr>
              <a:t>Seluruh 68 automated unit &amp; integration tests lulus (100% pass) dalam waktu &lt; 4 detik secara deterministik dan offline.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418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Kesimpulan &amp; Nilai Tambah Enterprise</a:t>
            </a:r>
          </a:p>
          <a:p>
            <a:pPr>
              <a:spcBef>
                <a:spcPts val="1400"/>
              </a:spcBef>
              <a:defRPr sz="1600">
                <a:solidFill>
                  <a:srgbClr val="E2E8F0"/>
                </a:solidFill>
              </a:defRPr>
            </a:pPr>
            <a:r>
              <a:t>• Membuktikan kelayakan implementasi konsep Mobile Agent pada domain perhotelan modern.</a:t>
            </a:r>
          </a:p>
          <a:p>
            <a:pPr>
              <a:spcBef>
                <a:spcPts val="1400"/>
              </a:spcBef>
              <a:defRPr sz="1600">
                <a:solidFill>
                  <a:srgbClr val="E2E8F0"/>
                </a:solidFill>
              </a:defRPr>
            </a:pPr>
            <a:r>
              <a:t>• Menjaga desentralisasi data tanpa mengorbankan kecepatan penyelesaian keluhan tamu.</a:t>
            </a:r>
          </a:p>
          <a:p>
            <a:pPr>
              <a:spcBef>
                <a:spcPts val="1400"/>
              </a:spcBef>
              <a:defRPr sz="1600">
                <a:solidFill>
                  <a:srgbClr val="E2E8F0"/>
                </a:solidFill>
              </a:defRPr>
            </a:pPr>
            <a:r>
              <a:t>• Menyediakan antarmuka intuitif untuk 3 stakeholder utama: Tamu, Staf Hotel, dan Tim IT.</a:t>
            </a:r>
          </a:p>
          <a:p>
            <a:pPr>
              <a:spcBef>
                <a:spcPts val="1400"/>
              </a:spcBef>
              <a:defRPr sz="1600">
                <a:solidFill>
                  <a:srgbClr val="E2E8F0"/>
                </a:solidFill>
              </a:defRPr>
            </a:pPr>
            <a:r>
              <a:t>• Sistem siap didemonstrasikan secara langsung (live interactive demo) maupun otomatis (1-click).</a:t>
            </a:r>
          </a:p>
          <a:p>
            <a:pPr>
              <a:spcBef>
                <a:spcPts val="2800"/>
              </a:spcBef>
              <a:defRPr sz="2000" b="1">
                <a:solidFill>
                  <a:srgbClr val="FF6B35"/>
                </a:solidFill>
              </a:defRPr>
            </a:pPr>
            <a:r>
              <a:t>Terima Kasih — Kelompok 5 (Agent Enterprise)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