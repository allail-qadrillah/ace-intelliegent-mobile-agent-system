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9728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ACE — Intelligent Mobile Agent System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Solusi Multi-Agent Enterprise: Otomasi Layanan Tamu, Perlindungan Pendapatan, &amp; Migrasi State Agen</a:t>
            </a:r>
          </a:p>
          <a:p>
            <a:pPr>
              <a:spcBef>
                <a:spcPts val="2000"/>
              </a:spcBef>
              <a:defRPr sz="1400" b="1">
                <a:solidFill>
                  <a:srgbClr val="FF6B35"/>
                </a:solidFill>
              </a:defRPr>
            </a:pPr>
            <a:r>
              <a:t>Mata Kuliah: Agent Enterprise  |  Program Studi Informatika / Sistem Informasi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212E4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Disusun oleh: KELOMPOK 5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• M. Al lail Qadrillah     • Dimas Prabowo     • Monanta Alfiareza     • Frans Alwan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Hotel Fiktif: Hotel Nusantara Demo  |  100% Offline, Deterministic, &amp; Local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PERSPEKTIF BISNIS &amp;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Sisi Bisnis: Masalah Nyata di Operasional Hotel Tradisional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⏳ Gesekan Koordinasi (Time Friction)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Ketika AC rusak di malam hari, tamu harus menunggu 30-45 menit karena Front Desk harus koordinasi manual via telepon/intercom ke tim Housekeeping &amp; Engineering yang sedang bertugas di lapangan.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💥 Risiko Kamar Kotor (Double Complaint)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Resepsionis melihat kamar kosong di sistem komputer, lalu langsung memindahkan tamu. Ternyata sprei masih kotor (DIRTY) karena status fisik belum diperbarui. Tamu komplain 2 kali!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💸 Kebocoran Pendapatan (Revenue Leakage)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Karena panik menghadapi tamu yang marah di tengah malam, staf Front Office sering memberikan upgrade gratis ke kamar Deluxe/Suite tanpa otorisasi manajer, merugikan pendapatan hotel.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235"/>
                </a:solidFill>
              </a:defRPr>
            </a:pPr>
            <a:r>
              <a:t>📉 Kerusakan Reputasi (Online Reviews)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Keterlambatan penanganan komplain langsung berujung ulasan bintang 1 di TripAdvisor &amp; Google Maps, menurunkan angka okupansi dan tingkat pemesanan ulang (guest retention).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NILAI TAMBAH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Business Value &amp; ROI: Dampak Finansial &amp; Kepuasan Tamu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💎 4 Pilar Nilai Bisnis Sistem ACE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Resolusi Cepat 80% Kasus Rutin: </a:t>
            </a:r>
            <a:r>
              <a:rPr b="0">
                <a:solidFill>
                  <a:srgbClr val="1E293B"/>
                </a:solidFill>
              </a:rPr>
              <a:t>Kasus AC rusak (S01) selesai otomatis dalam &lt; 1 menit. Mobile agent memverifikasi kamar bersih di Operations tanpa perlu telepon manual.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Proteksi Pendapatan (Revenue Guardrail): </a:t>
            </a:r>
            <a:r>
              <a:rPr b="0">
                <a:solidFill>
                  <a:srgbClr val="1E293B"/>
                </a:solidFill>
              </a:rPr>
              <a:t>Aturan bisnis (Policy) mengunci otomatis jika tamu minta upgrade gratis (S02) atau sengketa uang (S03). AI tidak bisa sembarangan menggratiskan kamar!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Efisiensi Tenaga Kerja &amp; Lembur: </a:t>
            </a:r>
            <a:r>
              <a:rPr b="0">
                <a:solidFill>
                  <a:srgbClr val="1E293B"/>
                </a:solidFill>
              </a:rPr>
              <a:t>Menangani ribuan pertanyaan rutin (FAQ check-in/out, Wi-Fi, handuk) secara mandiri. Menghemat beban lembur shift malam.</a:t>
            </a:r>
          </a:p>
          <a:p>
            <a:pPr>
              <a:spcBef>
                <a:spcPts val="800"/>
              </a:spcBef>
              <a:defRPr sz="1200" b="1">
                <a:solidFill>
                  <a:srgbClr val="FF6B35"/>
                </a:solidFill>
              </a:defRPr>
            </a:pPr>
            <a:r>
              <a:t>• Kepuasan &amp; Kepercayaan Tamu (CSAT): </a:t>
            </a:r>
            <a:r>
              <a:rPr b="0">
                <a:solidFill>
                  <a:srgbClr val="1E293B"/>
                </a:solidFill>
              </a:rPr>
              <a:t>Tamu menerima penawaran resmi di HP, melihat kamar pengganti bersih &amp; setara, lalu konfirmasi dengan 1 klik.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📈 Dampak Terhadap Indikator Kinerja (KPI)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Waktu Resolusi Komplain (MTTR)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30 - 45 Menit  ➔  ✅ Setelah: &lt; 1 Menit (Instan)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Beban Telepon Front Desk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Sangat Tinggi (Sibuk)  ➔  ✅ Setelah: Berkurang hingga 60%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Kepatuhan SOP &amp; Pendapatan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Rentan Human Error  ➔  ✅ Setelah: 100% Patuh SOP Policy</a:t>
            </a:r>
          </a:p>
          <a:p>
            <a:pPr>
              <a:spcBef>
                <a:spcPts val="1000"/>
              </a:spcBef>
              <a:defRPr sz="1300" b="1">
                <a:solidFill>
                  <a:srgbClr val="182235"/>
                </a:solidFill>
              </a:defRPr>
            </a:pPr>
            <a:r>
              <a:t>📊 Kepuasan Tamu (CSAT / NPS)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</a:defRPr>
            </a:pPr>
            <a:r>
              <a:t>   ❌ Sebelum: Rawan Review Buruk  ➔  ✅ Setelah: Meningkat &amp; Tamu Nyaman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ARUS DATA &amp; KEAMANAN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Mengapa Konsep 'Mobile Agent'? Perspektif Enterprise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🏢 Pendekatan Tradisional (Static Agent)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Data ditarik melintasi jaringan dari Operations ke Front Office.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Membuka database operasional internal ke resepsionis (rawan privasi).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Transfer data mentah yang berulang dan boros bandwidth.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Ketergantungan tinggi pada stabilitas jaringan antar-gedung/resort.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0 Migrasi agen (hanya request-response biasa).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🚀 Pendekatan Proyek (Mobile Agent)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Agen membawa state tugas dan bermigrasi ke tempat data berada.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Inspeksi dilakukan secara lokal di node Operations tanpa eksposur data mentah.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Hanya hasil akhir ('Kamar 103 Ready') yang dilaporkan kembali.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Jauh lebih hemat bandwidth (Checkpoint JSON kanonik hanya ~1-2 KB).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1 Migrasi sukses dengan kontinuitas ID 'MA-001' &amp; integritas SHA-256.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DESAIN ARSITEKTUR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Arsitektur Sistem: Dua Node Logis &amp; Spesialisasi 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🏢 Node FRONT_OFFICE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Data Tamu, Reservasi, Folio, FAQ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Scenario Scout: Menerima pesan tamu &amp; membentuk request terstruktur.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Orchestrator: Pusat koordinasi, triase policy/ML, &amp; alur kasus.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Reservation Agent: Mencari kamar setara &amp; commit perpindahan kamar.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Billing Agent: Membaca folio &amp; kalkulasi tagihan kamar/minibar.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Concierge Agent: Menjawab FAQ hotel (check-in, check-out, Wi-Fi).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🔧 Node OPERATIONS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Database In-Memory: Status Kesiapan Fisik Kamar &amp; Tiket Petugas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Operations Agent: Kelola kesiapan fisik kamar, blok maintenance, &amp; tiket staf.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Mobile Investigator (MA-001): Agen yang bermigrasi dari Front Office ke Operations untuk menginspeksi kesiapan kamar langsung di sumber data.</a:t>
            </a:r>
          </a:p>
          <a:p>
            <a:pPr>
              <a:spcBef>
                <a:spcPts val="2400"/>
              </a:spcBef>
              <a:defRPr sz="1100" b="1">
                <a:solidFill>
                  <a:srgbClr val="FF6B35"/>
                </a:solidFill>
              </a:defRPr>
            </a:pPr>
            <a:r>
              <a:t>🔒 Hak Akses Data: Agen hanya berhak membaca data sesuai hak akses node aktif.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MEKANISME TEKNIS MIGRASI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Protokol Migrasi State Agen &amp; Jaminan Keamanan SHA-256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1. PREPARE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Serialisasi state agen (tujuan, kandidat kamar, kriteria) menjadi Checkpoint JSON kanonik UTF-8. Hash SHA-256 digenerate.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2. DEPART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Instance agen di node asal ditutup dan diarsipkan. Instance aktif = 0; agen hanya berada di jalur transit.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3. ARRIVE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Instance baru dibuat di node tujuan dari checkpoint. Integritas hash SHA-256 &amp; skema divalidasi sebelum aktivasi.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35"/>
                </a:solidFill>
              </a:defRPr>
            </a:pPr>
            <a:r>
              <a:t>4. ROLLBACK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Jika terjadi anomali (hash rusak, skema tidak cocok), mekanisme rollback memulihkan agen ke node asal secara aman.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DESAIN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Antarmuka Berbasis Peran (Multi-Stakeholder Experience)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🛎️ Tamu Hotel (Customer)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Portal interaktif ramah pengguna:</a:t>
            </a:r>
            <a:br/>
            <a:r>
              <a:t>• Chat asisten AI hotel yang ramah</a:t>
            </a:r>
            <a:br/>
            <a:r>
              <a:t>• Kartu penawaran kamar baru (bersih &amp; setara)</a:t>
            </a:r>
            <a:br/>
            <a:r>
              <a:t>• Tombol persetujuan tamu (Consent) langsung</a:t>
            </a:r>
            <a:br/>
            <a:r>
              <a:t>• Pilihan layanan cepat &amp; ketik keluhan bebas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👔 Staf Hotel (Operations)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Dashboard operasional terpadu:</a:t>
            </a:r>
            <a:br/>
            <a:r>
              <a:t>• Ringkasan KPI tiket tugas &amp; eskalasi</a:t>
            </a:r>
            <a:br/>
            <a:r>
              <a:t>• Inbox eskalasi kasus yang butuh staf</a:t>
            </a:r>
            <a:br/>
            <a:r>
              <a:t>• Tombol 'Ambil Alih' &amp; resolusi catatan staf</a:t>
            </a:r>
            <a:br/>
            <a:r>
              <a:t>• Papan kerja tiket housekeeping/maintenance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235"/>
                </a:solidFill>
              </a:defRPr>
            </a:pPr>
            <a:r>
              <a:t>💻 Tim IT / DevOps</a:t>
            </a:r>
          </a:p>
          <a:p>
            <a:pPr>
              <a:spcBef>
                <a:spcPts val="1400"/>
              </a:spcBef>
              <a:defRPr sz="1200">
                <a:solidFill>
                  <a:srgbClr val="1E293B"/>
                </a:solidFill>
              </a:defRPr>
            </a:pPr>
            <a:r>
              <a:t>Konsol observabilitas mendalam:</a:t>
            </a:r>
            <a:br/>
            <a:r>
              <a:t>• Pemantauan topologi agen &amp; node</a:t>
            </a:r>
            <a:br/>
            <a:r>
              <a:t>• Verifikasi integritas hash SHA-256</a:t>
            </a:r>
            <a:br/>
            <a:r>
              <a:t>• Pengukuran payload bytes &amp; latency</a:t>
            </a:r>
            <a:br/>
            <a:r>
              <a:t>• Unduh laporan audit log JSON lengkap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CAKUPAN KASUS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9 Skenario Pengujian Realistis &amp; Otomatisasi 1-Klik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S01: AC Rusak — Kamar Setara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Migrasi Mobile Investigator -&gt; Temukan R103 ready -&gt; Proposal -&gt; Persetujuan Tamu -&gt; Selesai Digital.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S02: AC Rusak — Minta Upgrade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Kamar setara habis. Bukti terkumpul, namun dialihkan ke staf karena aturan wajib eskalasi upgrade.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37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S03: Sengketa Tagihan Minibar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Tamu menolak tagihan F02. Kebijakan finansial wajib eskalasi staf (WAITING_HUMAN).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S04: Tanya Jam Check-In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Pertanyaan jam operasional. Dijawab instan oleh Concierge Agent dari FAQ lokal (14.00).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S05: Permintaan Handuk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Layanan kamar. Tiket Housekeeping dibuat otomatis (PENDING -&gt; IN_PROGRESS -&gt; DONE).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10896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S06: Rincian Tagihan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Menampilkan folio tagihan terperinci (Total Rp650.000) tanpa perubahan saldo.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S07: Jam Check-Out &amp; Late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Informasi check-out maksimal 12.00 WIB dan alur permohonan late check-out.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S08: Permintaan Bantal Tambahan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Housekeeping membuat work order antar bantal tambahan ke kamar tamu.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572000"/>
            <a:ext cx="33832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6634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35"/>
                </a:solidFill>
              </a:defRPr>
            </a:pPr>
            <a:r>
              <a:t>S09: Informasi Wi-Fi Hotel</a:t>
            </a:r>
          </a:p>
          <a:p>
            <a:pPr>
              <a:spcBef>
                <a:spcPts val="300"/>
              </a:spcBef>
              <a:defRPr sz="1000">
                <a:solidFill>
                  <a:srgbClr val="1E293B"/>
                </a:solidFill>
              </a:defRPr>
            </a:pPr>
            <a:r>
              <a:t>Concierge menjawab detail SSID HotelNusantara_Guest tanpa kata sandi.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35"/>
                </a:solidFill>
              </a:defRPr>
            </a:pPr>
            <a:r>
              <a:t>VERIFIKASI &amp; PENGUJIAN ILMIAH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235"/>
                </a:solidFill>
              </a:defRPr>
            </a:pPr>
            <a:r>
              <a:t>Evaluasi &amp; Benchmark: Kesetaraan Hasil Bisnis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235"/>
                </a:solidFill>
              </a:defRPr>
            </a:pPr>
            <a:r>
              <a:t>📊 Temuan Utama Evaluasi Komparatif (S01 &amp; S02)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Hasil Bisnis 100% Identik: </a:t>
            </a:r>
            <a:r>
              <a:rPr b="0">
                <a:solidFill>
                  <a:srgbClr val="1E293B"/>
                </a:solidFill>
              </a:rPr>
              <a:t>Kedua jalur (Mobile dan Static) menghasilkan keputusan kamar, tarif akhir, dan status tiket yang sama persis karena berbagi kernel evaluasi murni ('evaluate_candidates').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Efisiensi Payload &amp; Trafik Komunikasi: </a:t>
            </a:r>
            <a:r>
              <a:rPr b="0">
                <a:solidFill>
                  <a:srgbClr val="1E293B"/>
                </a:solidFill>
              </a:rPr>
              <a:t>Jalur Mobile Agent mengemas migrasi dalam satu checkpoint kanonik. Tidak ada polling berulang atau penarikan seluruh database reservasi/kamar.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Keandalan &amp; Kebijakan (Policy vs ML): </a:t>
            </a:r>
            <a:r>
              <a:rPr b="0">
                <a:solidFill>
                  <a:srgbClr val="1E293B"/>
                </a:solidFill>
              </a:rPr>
              <a:t>Prediksi Machine Learning (Logistic Regression) dikombinasikan dengan Mandatory Rules. Jika terdeteksi risiko tinggi/sengketa/permintaan staf, aturan bisnis selalu mengesampingkan ML.</a:t>
            </a:r>
          </a:p>
          <a:p>
            <a:pPr>
              <a:spcBef>
                <a:spcPts val="1200"/>
              </a:spcBef>
              <a:defRPr sz="1300" b="1">
                <a:solidFill>
                  <a:srgbClr val="FF6B35"/>
                </a:solidFill>
              </a:defRPr>
            </a:pPr>
            <a:r>
              <a:t>✓ Pengujian Otomatis Menyeluruh: </a:t>
            </a:r>
            <a:r>
              <a:rPr b="0">
                <a:solidFill>
                  <a:srgbClr val="1E293B"/>
                </a:solidFill>
              </a:rPr>
              <a:t>Seluruh 68 automated unit &amp; integration tests lulus (100% pass) dalam waktu &lt; 4 detik secara deterministik dan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Kesimpulan &amp; Nilai Tambah Enterprise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Membuktikan kelayakan implementasi konsep Mobile Agent pada domain operasional perhotelan.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Mengurangi waktu penanganan keluhan tamu dari 30-45 menit menjadi &lt; 1 menit secara otonom.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Mencegah kebocoran pendapatan dengan jaminan aturan bisnis mutlak (Policy Guardrails).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Menyediakan antarmuka intuitif untuk 3 stakeholder utama: Tamu, Staf Hotel, dan Tim IT.</a:t>
            </a:r>
          </a:p>
          <a:p>
            <a:pPr>
              <a:spcBef>
                <a:spcPts val="1200"/>
              </a:spcBef>
              <a:defRPr sz="1500">
                <a:solidFill>
                  <a:srgbClr val="E2E8F0"/>
                </a:solidFill>
              </a:defRPr>
            </a:pPr>
            <a:r>
              <a:t>• Sistem siap didemonstrasikan secara langsung (live interactive demo) maupun otomatis (1-click).</a:t>
            </a:r>
          </a:p>
          <a:p>
            <a:pPr>
              <a:spcBef>
                <a:spcPts val="2400"/>
              </a:spcBef>
              <a:defRPr sz="2000" b="1">
                <a:solidFill>
                  <a:srgbClr val="FF6B35"/>
                </a:solidFill>
              </a:defRPr>
            </a:pPr>
            <a:r>
              <a:t>Terima Kasih — Kelompok 5 (Agent Enterprise)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